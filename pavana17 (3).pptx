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71" r:id="rId7"/>
    <p:sldId id="262" r:id="rId8"/>
    <p:sldId id="272" r:id="rId9"/>
    <p:sldId id="274" r:id="rId10"/>
    <p:sldId id="263" r:id="rId11"/>
    <p:sldId id="264" r:id="rId12"/>
    <p:sldId id="265" r:id="rId13"/>
    <p:sldId id="273" r:id="rId14"/>
    <p:sldId id="267" r:id="rId15"/>
    <p:sldId id="269" r:id="rId1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714" y="4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9324AD8A-9FAB-4322-B9AB-F8AAD11E71D6}" type="datetimeFigureOut">
              <a:rPr lang="en-IN" smtClean="0"/>
              <a:t>22-03-2026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DF81472-22EA-4CA6-BFEF-B82451852689}" type="slidenum">
              <a:rPr lang="en-IN" smtClean="0"/>
              <a:t>‹#›</a:t>
            </a:fld>
            <a:endParaRPr lang="en-IN"/>
          </a:p>
        </p:txBody>
      </p:sp>
    </p:spTree>
    <p:extLst>
      <p:ext uri="{BB962C8B-B14F-4D97-AF65-F5344CB8AC3E}">
        <p14:creationId xmlns:p14="http://schemas.microsoft.com/office/powerpoint/2010/main" val="1217514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DF81472-22EA-4CA6-BFEF-B82451852689}" type="slidenum">
              <a:rPr lang="en-IN" smtClean="0"/>
              <a:t>9</a:t>
            </a:fld>
            <a:endParaRPr lang="en-IN"/>
          </a:p>
        </p:txBody>
      </p:sp>
    </p:spTree>
    <p:extLst>
      <p:ext uri="{BB962C8B-B14F-4D97-AF65-F5344CB8AC3E}">
        <p14:creationId xmlns:p14="http://schemas.microsoft.com/office/powerpoint/2010/main" val="2882709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845983" y="543864"/>
            <a:ext cx="5645784" cy="57404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07060" y="1327226"/>
            <a:ext cx="8675370" cy="3625037"/>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3/22/2026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0480" y="2241613"/>
            <a:ext cx="6641909" cy="997709"/>
          </a:xfrm>
          <a:prstGeom prst="rect">
            <a:avLst/>
          </a:prstGeom>
        </p:spPr>
        <p:txBody>
          <a:bodyPr vert="horz" wrap="square" lIns="0" tIns="12700" rIns="0" bIns="0" rtlCol="0">
            <a:spAutoFit/>
          </a:bodyPr>
          <a:lstStyle/>
          <a:p>
            <a:pPr marL="730885" marR="5080" indent="-718820" algn="ctr">
              <a:lnSpc>
                <a:spcPct val="100000"/>
              </a:lnSpc>
              <a:spcBef>
                <a:spcPts val="100"/>
              </a:spcBef>
            </a:pPr>
            <a:r>
              <a:rPr lang="en-US" sz="3200"/>
              <a:t>Online Food </a:t>
            </a:r>
            <a:r>
              <a:rPr lang="en-US" sz="3200" err="1"/>
              <a:t>Ordeing</a:t>
            </a:r>
            <a:r>
              <a:rPr lang="en-US" sz="3200"/>
              <a:t> System Under E-commerce</a:t>
            </a:r>
            <a:endParaRPr sz="3200"/>
          </a:p>
        </p:txBody>
      </p:sp>
      <p:sp>
        <p:nvSpPr>
          <p:cNvPr id="3" name="object 3"/>
          <p:cNvSpPr txBox="1"/>
          <p:nvPr/>
        </p:nvSpPr>
        <p:spPr>
          <a:xfrm>
            <a:off x="834377" y="3939090"/>
            <a:ext cx="2415540" cy="1917700"/>
          </a:xfrm>
          <a:prstGeom prst="rect">
            <a:avLst/>
          </a:prstGeom>
        </p:spPr>
        <p:txBody>
          <a:bodyPr vert="horz" wrap="square" lIns="0" tIns="12700" rIns="0" bIns="0" rtlCol="0">
            <a:spAutoFit/>
          </a:bodyPr>
          <a:lstStyle/>
          <a:p>
            <a:pPr marL="12700" marR="789940">
              <a:lnSpc>
                <a:spcPct val="124100"/>
              </a:lnSpc>
              <a:spcBef>
                <a:spcPts val="100"/>
              </a:spcBef>
            </a:pPr>
            <a:r>
              <a:rPr sz="2000" b="1" spc="-65" dirty="0">
                <a:latin typeface="Times New Roman"/>
                <a:cs typeface="Times New Roman"/>
              </a:rPr>
              <a:t>Batch</a:t>
            </a:r>
            <a:r>
              <a:rPr sz="2000" b="1" spc="-20" dirty="0">
                <a:latin typeface="Times New Roman"/>
                <a:cs typeface="Times New Roman"/>
              </a:rPr>
              <a:t> </a:t>
            </a:r>
            <a:r>
              <a:rPr sz="2000" b="1" dirty="0">
                <a:latin typeface="Times New Roman"/>
                <a:cs typeface="Times New Roman"/>
              </a:rPr>
              <a:t>–</a:t>
            </a:r>
            <a:r>
              <a:rPr sz="2000" b="1" spc="-25" dirty="0">
                <a:latin typeface="Times New Roman"/>
                <a:cs typeface="Times New Roman"/>
              </a:rPr>
              <a:t> </a:t>
            </a:r>
            <a:r>
              <a:rPr lang="en-US" sz="2000" b="1" spc="-25" dirty="0">
                <a:latin typeface="Times New Roman"/>
                <a:cs typeface="Times New Roman"/>
              </a:rPr>
              <a:t>A17</a:t>
            </a:r>
            <a:r>
              <a:rPr sz="2000" b="1" spc="-25" dirty="0">
                <a:latin typeface="Times New Roman"/>
                <a:cs typeface="Times New Roman"/>
              </a:rPr>
              <a:t> </a:t>
            </a:r>
            <a:r>
              <a:rPr sz="2000" b="1" spc="-160" dirty="0">
                <a:latin typeface="Times New Roman"/>
                <a:cs typeface="Times New Roman"/>
              </a:rPr>
              <a:t>Team</a:t>
            </a:r>
            <a:r>
              <a:rPr sz="2000" b="1" spc="20" dirty="0">
                <a:latin typeface="Times New Roman"/>
                <a:cs typeface="Times New Roman"/>
              </a:rPr>
              <a:t> </a:t>
            </a:r>
            <a:r>
              <a:rPr sz="2000" b="1" spc="-100" dirty="0">
                <a:latin typeface="Times New Roman"/>
                <a:cs typeface="Times New Roman"/>
              </a:rPr>
              <a:t>Numbers:</a:t>
            </a:r>
            <a:endParaRPr sz="2000" dirty="0">
              <a:latin typeface="Times New Roman"/>
              <a:cs typeface="Times New Roman"/>
            </a:endParaRPr>
          </a:p>
          <a:p>
            <a:pPr marL="12700">
              <a:lnSpc>
                <a:spcPct val="100000"/>
              </a:lnSpc>
              <a:spcBef>
                <a:spcPts val="580"/>
              </a:spcBef>
            </a:pPr>
            <a:r>
              <a:rPr lang="en-US" sz="2000" dirty="0">
                <a:latin typeface="Times New Roman"/>
                <a:cs typeface="Times New Roman"/>
              </a:rPr>
              <a:t>B.Pavan</a:t>
            </a:r>
            <a:r>
              <a:rPr sz="2000" dirty="0">
                <a:latin typeface="Times New Roman"/>
                <a:cs typeface="Times New Roman"/>
              </a:rPr>
              <a:t>-</a:t>
            </a:r>
            <a:r>
              <a:rPr sz="2000" spc="-10" dirty="0">
                <a:latin typeface="Times New Roman"/>
                <a:cs typeface="Times New Roman"/>
              </a:rPr>
              <a:t>237Z1A05</a:t>
            </a:r>
            <a:r>
              <a:rPr lang="en-US" sz="2000" spc="-10" dirty="0">
                <a:latin typeface="Times New Roman"/>
                <a:cs typeface="Times New Roman"/>
              </a:rPr>
              <a:t>1</a:t>
            </a:r>
            <a:r>
              <a:rPr sz="2000" spc="-10" dirty="0">
                <a:latin typeface="Times New Roman"/>
                <a:cs typeface="Times New Roman"/>
              </a:rPr>
              <a:t>1</a:t>
            </a:r>
            <a:endParaRPr sz="2000" dirty="0">
              <a:latin typeface="Times New Roman"/>
              <a:cs typeface="Times New Roman"/>
            </a:endParaRPr>
          </a:p>
          <a:p>
            <a:pPr marL="12700" marR="5080">
              <a:lnSpc>
                <a:spcPct val="124100"/>
              </a:lnSpc>
            </a:pPr>
            <a:r>
              <a:rPr lang="en-US" sz="2000" spc="-10" dirty="0">
                <a:latin typeface="Times New Roman"/>
                <a:cs typeface="Times New Roman"/>
              </a:rPr>
              <a:t>J.Charan</a:t>
            </a:r>
            <a:r>
              <a:rPr sz="2000" spc="-10" dirty="0">
                <a:latin typeface="Times New Roman"/>
                <a:cs typeface="Times New Roman"/>
              </a:rPr>
              <a:t>-237Z1A05</a:t>
            </a:r>
            <a:r>
              <a:rPr lang="en-US" sz="2000" spc="-10" dirty="0">
                <a:latin typeface="Times New Roman"/>
                <a:cs typeface="Times New Roman"/>
              </a:rPr>
              <a:t>63</a:t>
            </a:r>
            <a:r>
              <a:rPr sz="2000" spc="-10" dirty="0">
                <a:latin typeface="Times New Roman"/>
                <a:cs typeface="Times New Roman"/>
              </a:rPr>
              <a:t> </a:t>
            </a:r>
            <a:r>
              <a:rPr lang="en-US" sz="2000" spc="-10" dirty="0">
                <a:latin typeface="Times New Roman"/>
                <a:cs typeface="Times New Roman"/>
              </a:rPr>
              <a:t>B.Nithil</a:t>
            </a:r>
            <a:r>
              <a:rPr sz="2000" spc="-10" dirty="0">
                <a:latin typeface="Times New Roman"/>
                <a:cs typeface="Times New Roman"/>
              </a:rPr>
              <a:t>-2</a:t>
            </a:r>
            <a:r>
              <a:rPr lang="en-IN" sz="2000" spc="-10" dirty="0">
                <a:latin typeface="Times New Roman"/>
                <a:cs typeface="Times New Roman"/>
              </a:rPr>
              <a:t>3</a:t>
            </a:r>
            <a:r>
              <a:rPr sz="2000" spc="-10" dirty="0">
                <a:latin typeface="Times New Roman"/>
                <a:cs typeface="Times New Roman"/>
              </a:rPr>
              <a:t>7Z</a:t>
            </a:r>
            <a:r>
              <a:rPr lang="en-IN" sz="2000" spc="-10" dirty="0">
                <a:latin typeface="Times New Roman"/>
                <a:cs typeface="Times New Roman"/>
              </a:rPr>
              <a:t>1</a:t>
            </a:r>
            <a:r>
              <a:rPr sz="2000" spc="-10" dirty="0">
                <a:latin typeface="Times New Roman"/>
                <a:cs typeface="Times New Roman"/>
              </a:rPr>
              <a:t>A05</a:t>
            </a:r>
            <a:r>
              <a:rPr lang="en-US" sz="2000" spc="-10" dirty="0">
                <a:latin typeface="Times New Roman"/>
                <a:cs typeface="Times New Roman"/>
              </a:rPr>
              <a:t>25</a:t>
            </a:r>
            <a:endParaRPr sz="2000" dirty="0">
              <a:latin typeface="Times New Roman"/>
              <a:cs typeface="Times New Roman"/>
            </a:endParaRPr>
          </a:p>
        </p:txBody>
      </p:sp>
      <p:pic>
        <p:nvPicPr>
          <p:cNvPr id="4" name="object 4"/>
          <p:cNvPicPr/>
          <p:nvPr/>
        </p:nvPicPr>
        <p:blipFill>
          <a:blip r:embed="rId2" cstate="print"/>
          <a:stretch>
            <a:fillRect/>
          </a:stretch>
        </p:blipFill>
        <p:spPr>
          <a:xfrm>
            <a:off x="233099" y="85318"/>
            <a:ext cx="8843946" cy="1179004"/>
          </a:xfrm>
          <a:prstGeom prst="rect">
            <a:avLst/>
          </a:prstGeom>
        </p:spPr>
      </p:pic>
      <p:sp>
        <p:nvSpPr>
          <p:cNvPr id="5" name="object 5"/>
          <p:cNvSpPr txBox="1"/>
          <p:nvPr/>
        </p:nvSpPr>
        <p:spPr>
          <a:xfrm>
            <a:off x="3050895" y="1388427"/>
            <a:ext cx="2242820" cy="239395"/>
          </a:xfrm>
          <a:prstGeom prst="rect">
            <a:avLst/>
          </a:prstGeom>
        </p:spPr>
        <p:txBody>
          <a:bodyPr vert="horz" wrap="square" lIns="0" tIns="12700" rIns="0" bIns="0" rtlCol="0">
            <a:spAutoFit/>
          </a:bodyPr>
          <a:lstStyle/>
          <a:p>
            <a:pPr marL="12700">
              <a:lnSpc>
                <a:spcPct val="100000"/>
              </a:lnSpc>
              <a:spcBef>
                <a:spcPts val="100"/>
              </a:spcBef>
            </a:pPr>
            <a:r>
              <a:rPr sz="1400" b="1" spc="-85">
                <a:latin typeface="Times New Roman"/>
                <a:cs typeface="Times New Roman"/>
              </a:rPr>
              <a:t>SCHOOL</a:t>
            </a:r>
            <a:r>
              <a:rPr sz="1400" b="1" spc="10">
                <a:latin typeface="Times New Roman"/>
                <a:cs typeface="Times New Roman"/>
              </a:rPr>
              <a:t> </a:t>
            </a:r>
            <a:r>
              <a:rPr sz="1400" b="1" spc="-85">
                <a:latin typeface="Times New Roman"/>
                <a:cs typeface="Times New Roman"/>
              </a:rPr>
              <a:t>OF</a:t>
            </a:r>
            <a:r>
              <a:rPr sz="1400" b="1" spc="25">
                <a:latin typeface="Times New Roman"/>
                <a:cs typeface="Times New Roman"/>
              </a:rPr>
              <a:t> </a:t>
            </a:r>
            <a:r>
              <a:rPr sz="1400" b="1" spc="-65">
                <a:latin typeface="Times New Roman"/>
                <a:cs typeface="Times New Roman"/>
              </a:rPr>
              <a:t>ENGINEERING</a:t>
            </a:r>
            <a:endParaRPr sz="1400">
              <a:latin typeface="Times New Roman"/>
              <a:cs typeface="Times New Roman"/>
            </a:endParaRPr>
          </a:p>
        </p:txBody>
      </p:sp>
      <p:sp>
        <p:nvSpPr>
          <p:cNvPr id="6" name="object 6"/>
          <p:cNvSpPr txBox="1"/>
          <p:nvPr/>
        </p:nvSpPr>
        <p:spPr>
          <a:xfrm>
            <a:off x="1748066" y="1815020"/>
            <a:ext cx="4665345" cy="239395"/>
          </a:xfrm>
          <a:prstGeom prst="rect">
            <a:avLst/>
          </a:prstGeom>
        </p:spPr>
        <p:txBody>
          <a:bodyPr vert="horz" wrap="square" lIns="0" tIns="12700" rIns="0" bIns="0" rtlCol="0">
            <a:spAutoFit/>
          </a:bodyPr>
          <a:lstStyle/>
          <a:p>
            <a:pPr marL="12700">
              <a:lnSpc>
                <a:spcPct val="100000"/>
              </a:lnSpc>
              <a:spcBef>
                <a:spcPts val="100"/>
              </a:spcBef>
            </a:pPr>
            <a:r>
              <a:rPr sz="1400" b="1" spc="-114">
                <a:latin typeface="Times New Roman"/>
                <a:cs typeface="Times New Roman"/>
              </a:rPr>
              <a:t>DEPARTMENT</a:t>
            </a:r>
            <a:r>
              <a:rPr sz="1400" b="1" spc="10">
                <a:latin typeface="Times New Roman"/>
                <a:cs typeface="Times New Roman"/>
              </a:rPr>
              <a:t> </a:t>
            </a:r>
            <a:r>
              <a:rPr sz="1400" b="1" spc="-85">
                <a:latin typeface="Times New Roman"/>
                <a:cs typeface="Times New Roman"/>
              </a:rPr>
              <a:t>OF</a:t>
            </a:r>
            <a:r>
              <a:rPr sz="1400" b="1" spc="15">
                <a:latin typeface="Times New Roman"/>
                <a:cs typeface="Times New Roman"/>
              </a:rPr>
              <a:t> </a:t>
            </a:r>
            <a:r>
              <a:rPr sz="1400" b="1" spc="-80">
                <a:latin typeface="Times New Roman"/>
                <a:cs typeface="Times New Roman"/>
              </a:rPr>
              <a:t>COMPUTER</a:t>
            </a:r>
            <a:r>
              <a:rPr sz="1400" b="1" spc="20">
                <a:latin typeface="Times New Roman"/>
                <a:cs typeface="Times New Roman"/>
              </a:rPr>
              <a:t> </a:t>
            </a:r>
            <a:r>
              <a:rPr sz="1400" b="1" spc="-65">
                <a:latin typeface="Times New Roman"/>
                <a:cs typeface="Times New Roman"/>
              </a:rPr>
              <a:t>SCIENCE</a:t>
            </a:r>
            <a:r>
              <a:rPr sz="1400" b="1" spc="25">
                <a:latin typeface="Times New Roman"/>
                <a:cs typeface="Times New Roman"/>
              </a:rPr>
              <a:t> </a:t>
            </a:r>
            <a:r>
              <a:rPr sz="1400" b="1">
                <a:latin typeface="Times New Roman"/>
                <a:cs typeface="Times New Roman"/>
              </a:rPr>
              <a:t>&amp;</a:t>
            </a:r>
            <a:r>
              <a:rPr sz="1400" b="1" spc="15">
                <a:latin typeface="Times New Roman"/>
                <a:cs typeface="Times New Roman"/>
              </a:rPr>
              <a:t> </a:t>
            </a:r>
            <a:r>
              <a:rPr sz="1400" b="1" spc="-50">
                <a:latin typeface="Times New Roman"/>
                <a:cs typeface="Times New Roman"/>
              </a:rPr>
              <a:t>ENGINEERING</a:t>
            </a:r>
            <a:endParaRPr sz="1400">
              <a:latin typeface="Times New Roman"/>
              <a:cs typeface="Times New Roman"/>
            </a:endParaRPr>
          </a:p>
        </p:txBody>
      </p:sp>
      <p:sp>
        <p:nvSpPr>
          <p:cNvPr id="7" name="object 7"/>
          <p:cNvSpPr txBox="1"/>
          <p:nvPr/>
        </p:nvSpPr>
        <p:spPr>
          <a:xfrm>
            <a:off x="6198248" y="4526178"/>
            <a:ext cx="2111375" cy="1143455"/>
          </a:xfrm>
          <a:prstGeom prst="rect">
            <a:avLst/>
          </a:prstGeom>
        </p:spPr>
        <p:txBody>
          <a:bodyPr vert="horz" wrap="square" lIns="0" tIns="12700" rIns="0" bIns="0" rtlCol="0">
            <a:spAutoFit/>
          </a:bodyPr>
          <a:lstStyle/>
          <a:p>
            <a:pPr marL="12700">
              <a:lnSpc>
                <a:spcPct val="100000"/>
              </a:lnSpc>
              <a:spcBef>
                <a:spcPts val="100"/>
              </a:spcBef>
            </a:pPr>
            <a:r>
              <a:rPr sz="1800" b="1" spc="-85">
                <a:latin typeface="Times New Roman"/>
                <a:cs typeface="Times New Roman"/>
              </a:rPr>
              <a:t>Under</a:t>
            </a:r>
            <a:r>
              <a:rPr sz="1800" b="1" spc="-30">
                <a:latin typeface="Times New Roman"/>
                <a:cs typeface="Times New Roman"/>
              </a:rPr>
              <a:t> </a:t>
            </a:r>
            <a:r>
              <a:rPr sz="1800" b="1" spc="-65">
                <a:latin typeface="Times New Roman"/>
                <a:cs typeface="Times New Roman"/>
              </a:rPr>
              <a:t>the</a:t>
            </a:r>
            <a:r>
              <a:rPr sz="1800" b="1" spc="-25">
                <a:latin typeface="Times New Roman"/>
                <a:cs typeface="Times New Roman"/>
              </a:rPr>
              <a:t> </a:t>
            </a:r>
            <a:r>
              <a:rPr sz="1800" b="1" spc="-65">
                <a:latin typeface="Times New Roman"/>
                <a:cs typeface="Times New Roman"/>
              </a:rPr>
              <a:t>Guidance</a:t>
            </a:r>
            <a:r>
              <a:rPr sz="1800" b="1" spc="-20">
                <a:latin typeface="Times New Roman"/>
                <a:cs typeface="Times New Roman"/>
              </a:rPr>
              <a:t> </a:t>
            </a:r>
            <a:r>
              <a:rPr sz="1800" b="1" spc="-25">
                <a:latin typeface="Times New Roman"/>
                <a:cs typeface="Times New Roman"/>
              </a:rPr>
              <a:t>of</a:t>
            </a:r>
            <a:endParaRPr sz="1800">
              <a:latin typeface="Times New Roman"/>
              <a:cs typeface="Times New Roman"/>
            </a:endParaRPr>
          </a:p>
          <a:p>
            <a:pPr marL="160655" marR="88265" indent="-56515">
              <a:lnSpc>
                <a:spcPct val="164700"/>
              </a:lnSpc>
            </a:pPr>
            <a:r>
              <a:rPr lang="en-US" spc="-10" err="1">
                <a:latin typeface="Times New Roman"/>
                <a:cs typeface="Times New Roman"/>
              </a:rPr>
              <a:t>Mr.CH.Ravi</a:t>
            </a:r>
            <a:endParaRPr lang="en-US" spc="-10">
              <a:latin typeface="Times New Roman"/>
              <a:cs typeface="Times New Roman"/>
            </a:endParaRPr>
          </a:p>
          <a:p>
            <a:pPr marL="160655" marR="88265" indent="-56515">
              <a:lnSpc>
                <a:spcPct val="164700"/>
              </a:lnSpc>
            </a:pPr>
            <a:r>
              <a:rPr lang="en-IN"/>
              <a:t>Assistant </a:t>
            </a:r>
            <a:r>
              <a:rPr lang="en-IN" err="1"/>
              <a:t>Profesor</a:t>
            </a:r>
            <a:endParaRPr sz="18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707514">
              <a:lnSpc>
                <a:spcPct val="100000"/>
              </a:lnSpc>
              <a:spcBef>
                <a:spcPts val="100"/>
              </a:spcBef>
            </a:pPr>
            <a:r>
              <a:rPr spc="-135"/>
              <a:t>CONTENTS</a:t>
            </a:r>
          </a:p>
        </p:txBody>
      </p:sp>
      <p:sp>
        <p:nvSpPr>
          <p:cNvPr id="3" name="object 3"/>
          <p:cNvSpPr txBox="1"/>
          <p:nvPr/>
        </p:nvSpPr>
        <p:spPr>
          <a:xfrm>
            <a:off x="853579" y="1548625"/>
            <a:ext cx="107314" cy="2841804"/>
          </a:xfrm>
          <a:prstGeom prst="rect">
            <a:avLst/>
          </a:prstGeom>
        </p:spPr>
        <p:txBody>
          <a:bodyPr vert="horz" wrap="square" lIns="0" tIns="86360" rIns="0" bIns="0" rtlCol="0">
            <a:spAutoFit/>
          </a:bodyPr>
          <a:lstStyle/>
          <a:p>
            <a:pPr marL="12700">
              <a:lnSpc>
                <a:spcPct val="100000"/>
              </a:lnSpc>
              <a:spcBef>
                <a:spcPts val="680"/>
              </a:spcBef>
            </a:pPr>
            <a:r>
              <a:rPr sz="1800" spc="-50">
                <a:latin typeface="Arial MT"/>
                <a:cs typeface="Arial MT"/>
              </a:rPr>
              <a:t>•</a:t>
            </a:r>
            <a:endParaRPr sz="1800">
              <a:latin typeface="Arial MT"/>
              <a:cs typeface="Arial MT"/>
            </a:endParaRPr>
          </a:p>
          <a:p>
            <a:pPr marL="12700">
              <a:lnSpc>
                <a:spcPct val="100000"/>
              </a:lnSpc>
              <a:spcBef>
                <a:spcPts val="580"/>
              </a:spcBef>
            </a:pPr>
            <a:r>
              <a:rPr sz="1800" spc="-50">
                <a:latin typeface="Arial MT"/>
                <a:cs typeface="Arial MT"/>
              </a:rPr>
              <a:t>•</a:t>
            </a:r>
            <a:endParaRPr sz="1800">
              <a:latin typeface="Arial MT"/>
              <a:cs typeface="Arial MT"/>
            </a:endParaRPr>
          </a:p>
          <a:p>
            <a:pPr marL="12700">
              <a:lnSpc>
                <a:spcPct val="100000"/>
              </a:lnSpc>
              <a:spcBef>
                <a:spcPts val="575"/>
              </a:spcBef>
            </a:pPr>
            <a:r>
              <a:rPr sz="1800" spc="-50">
                <a:latin typeface="Arial MT"/>
                <a:cs typeface="Arial MT"/>
              </a:rPr>
              <a:t>•</a:t>
            </a:r>
            <a:endParaRPr sz="1800">
              <a:latin typeface="Arial MT"/>
              <a:cs typeface="Arial MT"/>
            </a:endParaRPr>
          </a:p>
          <a:p>
            <a:pPr marL="12700">
              <a:lnSpc>
                <a:spcPct val="100000"/>
              </a:lnSpc>
              <a:spcBef>
                <a:spcPts val="575"/>
              </a:spcBef>
            </a:pPr>
            <a:r>
              <a:rPr sz="1800" spc="-50">
                <a:latin typeface="Arial MT"/>
                <a:cs typeface="Arial MT"/>
              </a:rPr>
              <a:t>•</a:t>
            </a:r>
            <a:endParaRPr sz="1800">
              <a:latin typeface="Arial MT"/>
              <a:cs typeface="Arial MT"/>
            </a:endParaRPr>
          </a:p>
          <a:p>
            <a:pPr marL="12700">
              <a:lnSpc>
                <a:spcPct val="100000"/>
              </a:lnSpc>
              <a:spcBef>
                <a:spcPts val="575"/>
              </a:spcBef>
            </a:pPr>
            <a:r>
              <a:rPr sz="1800" spc="-50">
                <a:latin typeface="Arial MT"/>
                <a:cs typeface="Arial MT"/>
              </a:rPr>
              <a:t>•</a:t>
            </a:r>
            <a:endParaRPr sz="1800">
              <a:latin typeface="Arial MT"/>
              <a:cs typeface="Arial MT"/>
            </a:endParaRPr>
          </a:p>
          <a:p>
            <a:pPr marL="12700">
              <a:lnSpc>
                <a:spcPct val="100000"/>
              </a:lnSpc>
              <a:spcBef>
                <a:spcPts val="585"/>
              </a:spcBef>
            </a:pPr>
            <a:r>
              <a:rPr sz="1800" spc="-50">
                <a:latin typeface="Arial MT"/>
                <a:cs typeface="Arial MT"/>
              </a:rPr>
              <a:t>•</a:t>
            </a:r>
            <a:endParaRPr sz="1800">
              <a:latin typeface="Arial MT"/>
              <a:cs typeface="Arial MT"/>
            </a:endParaRPr>
          </a:p>
          <a:p>
            <a:pPr marL="12700">
              <a:lnSpc>
                <a:spcPct val="100000"/>
              </a:lnSpc>
              <a:spcBef>
                <a:spcPts val="575"/>
              </a:spcBef>
            </a:pPr>
            <a:r>
              <a:rPr sz="1800" spc="-50">
                <a:latin typeface="Arial MT"/>
                <a:cs typeface="Arial MT"/>
              </a:rPr>
              <a:t>•</a:t>
            </a:r>
            <a:endParaRPr sz="1800">
              <a:latin typeface="Arial MT"/>
              <a:cs typeface="Arial MT"/>
            </a:endParaRPr>
          </a:p>
          <a:p>
            <a:pPr marL="12700">
              <a:lnSpc>
                <a:spcPct val="100000"/>
              </a:lnSpc>
              <a:spcBef>
                <a:spcPts val="575"/>
              </a:spcBef>
            </a:pPr>
            <a:r>
              <a:rPr sz="1800" spc="-50">
                <a:latin typeface="Arial MT"/>
                <a:cs typeface="Arial MT"/>
              </a:rPr>
              <a:t>•</a:t>
            </a:r>
            <a:endParaRPr sz="1800">
              <a:latin typeface="Arial MT"/>
              <a:cs typeface="Arial MT"/>
            </a:endParaRPr>
          </a:p>
        </p:txBody>
      </p:sp>
      <p:sp>
        <p:nvSpPr>
          <p:cNvPr id="4" name="object 4"/>
          <p:cNvSpPr txBox="1"/>
          <p:nvPr/>
        </p:nvSpPr>
        <p:spPr>
          <a:xfrm>
            <a:off x="1134986" y="1548625"/>
            <a:ext cx="3507740" cy="2794932"/>
          </a:xfrm>
          <a:prstGeom prst="rect">
            <a:avLst/>
          </a:prstGeom>
        </p:spPr>
        <p:txBody>
          <a:bodyPr vert="horz" wrap="square" lIns="0" tIns="86360" rIns="0" bIns="0" rtlCol="0">
            <a:spAutoFit/>
          </a:bodyPr>
          <a:lstStyle/>
          <a:p>
            <a:pPr marL="12700" algn="just">
              <a:lnSpc>
                <a:spcPct val="100000"/>
              </a:lnSpc>
              <a:spcBef>
                <a:spcPts val="680"/>
              </a:spcBef>
            </a:pPr>
            <a:r>
              <a:rPr sz="1800" spc="-10" dirty="0">
                <a:latin typeface="Times New Roman"/>
                <a:cs typeface="Times New Roman"/>
              </a:rPr>
              <a:t>Abstract</a:t>
            </a:r>
            <a:endParaRPr sz="1800" dirty="0">
              <a:latin typeface="Times New Roman"/>
              <a:cs typeface="Times New Roman"/>
            </a:endParaRPr>
          </a:p>
          <a:p>
            <a:pPr marL="12700" marR="1751964" algn="just">
              <a:lnSpc>
                <a:spcPct val="126600"/>
              </a:lnSpc>
              <a:spcBef>
                <a:spcPts val="5"/>
              </a:spcBef>
            </a:pPr>
            <a:r>
              <a:rPr sz="1800" dirty="0">
                <a:latin typeface="Times New Roman"/>
                <a:cs typeface="Times New Roman"/>
              </a:rPr>
              <a:t>Problem</a:t>
            </a:r>
            <a:r>
              <a:rPr sz="1800" spc="-55" dirty="0">
                <a:latin typeface="Times New Roman"/>
                <a:cs typeface="Times New Roman"/>
              </a:rPr>
              <a:t> </a:t>
            </a:r>
            <a:r>
              <a:rPr sz="1800" spc="-10" dirty="0">
                <a:latin typeface="Times New Roman"/>
                <a:cs typeface="Times New Roman"/>
              </a:rPr>
              <a:t>Statement </a:t>
            </a:r>
            <a:r>
              <a:rPr sz="1800" dirty="0">
                <a:latin typeface="Times New Roman"/>
                <a:cs typeface="Times New Roman"/>
              </a:rPr>
              <a:t>Literature</a:t>
            </a:r>
            <a:r>
              <a:rPr sz="1800" spc="-90" dirty="0">
                <a:latin typeface="Times New Roman"/>
                <a:cs typeface="Times New Roman"/>
              </a:rPr>
              <a:t> </a:t>
            </a:r>
            <a:r>
              <a:rPr sz="1800" spc="-10" dirty="0">
                <a:latin typeface="Times New Roman"/>
                <a:cs typeface="Times New Roman"/>
              </a:rPr>
              <a:t>Survey</a:t>
            </a:r>
            <a:endParaRPr sz="1800" dirty="0">
              <a:latin typeface="Times New Roman"/>
              <a:cs typeface="Times New Roman"/>
            </a:endParaRPr>
          </a:p>
          <a:p>
            <a:pPr marL="12700" marR="641985" algn="just">
              <a:lnSpc>
                <a:spcPct val="126600"/>
              </a:lnSpc>
            </a:pPr>
            <a:r>
              <a:rPr sz="1800" dirty="0">
                <a:latin typeface="Times New Roman"/>
                <a:cs typeface="Times New Roman"/>
              </a:rPr>
              <a:t>Limitations</a:t>
            </a:r>
            <a:r>
              <a:rPr sz="1800" spc="-45" dirty="0">
                <a:latin typeface="Times New Roman"/>
                <a:cs typeface="Times New Roman"/>
              </a:rPr>
              <a:t> </a:t>
            </a:r>
            <a:r>
              <a:rPr sz="1800" dirty="0">
                <a:latin typeface="Times New Roman"/>
                <a:cs typeface="Times New Roman"/>
              </a:rPr>
              <a:t>of</a:t>
            </a:r>
            <a:r>
              <a:rPr sz="1800" spc="-50" dirty="0">
                <a:latin typeface="Times New Roman"/>
                <a:cs typeface="Times New Roman"/>
              </a:rPr>
              <a:t> </a:t>
            </a:r>
            <a:r>
              <a:rPr sz="1800" dirty="0">
                <a:latin typeface="Times New Roman"/>
                <a:cs typeface="Times New Roman"/>
              </a:rPr>
              <a:t>Existing</a:t>
            </a:r>
            <a:r>
              <a:rPr sz="1800" spc="-45" dirty="0">
                <a:latin typeface="Times New Roman"/>
                <a:cs typeface="Times New Roman"/>
              </a:rPr>
              <a:t> </a:t>
            </a:r>
            <a:r>
              <a:rPr sz="1800" spc="-10" dirty="0">
                <a:latin typeface="Times New Roman"/>
                <a:cs typeface="Times New Roman"/>
              </a:rPr>
              <a:t>System </a:t>
            </a:r>
            <a:r>
              <a:rPr sz="1800" dirty="0">
                <a:latin typeface="Times New Roman"/>
                <a:cs typeface="Times New Roman"/>
              </a:rPr>
              <a:t>Proposed</a:t>
            </a:r>
            <a:r>
              <a:rPr sz="1800" spc="-30" dirty="0">
                <a:latin typeface="Times New Roman"/>
                <a:cs typeface="Times New Roman"/>
              </a:rPr>
              <a:t> </a:t>
            </a:r>
            <a:r>
              <a:rPr sz="1800" spc="-10" dirty="0">
                <a:latin typeface="Times New Roman"/>
                <a:cs typeface="Times New Roman"/>
              </a:rPr>
              <a:t>System</a:t>
            </a:r>
            <a:endParaRPr sz="1800" dirty="0">
              <a:latin typeface="Times New Roman"/>
              <a:cs typeface="Times New Roman"/>
            </a:endParaRPr>
          </a:p>
          <a:p>
            <a:pPr marL="12700" algn="just">
              <a:lnSpc>
                <a:spcPct val="100000"/>
              </a:lnSpc>
              <a:spcBef>
                <a:spcPts val="585"/>
              </a:spcBef>
            </a:pPr>
            <a:r>
              <a:rPr sz="1800" spc="-10" dirty="0">
                <a:latin typeface="Times New Roman"/>
                <a:cs typeface="Times New Roman"/>
              </a:rPr>
              <a:t>Advantages</a:t>
            </a:r>
            <a:endParaRPr sz="1800" dirty="0">
              <a:latin typeface="Times New Roman"/>
              <a:cs typeface="Times New Roman"/>
            </a:endParaRPr>
          </a:p>
          <a:p>
            <a:pPr marL="12700" marR="5080" algn="just">
              <a:lnSpc>
                <a:spcPct val="126600"/>
              </a:lnSpc>
            </a:pPr>
            <a:r>
              <a:rPr sz="1800" dirty="0">
                <a:latin typeface="Times New Roman"/>
                <a:cs typeface="Times New Roman"/>
              </a:rPr>
              <a:t>Software</a:t>
            </a:r>
            <a:r>
              <a:rPr sz="1800" spc="-50" dirty="0">
                <a:latin typeface="Times New Roman"/>
                <a:cs typeface="Times New Roman"/>
              </a:rPr>
              <a:t> </a:t>
            </a:r>
            <a:r>
              <a:rPr sz="1800" dirty="0">
                <a:latin typeface="Times New Roman"/>
                <a:cs typeface="Times New Roman"/>
              </a:rPr>
              <a:t>and</a:t>
            </a:r>
            <a:r>
              <a:rPr sz="1800" spc="-50" dirty="0">
                <a:latin typeface="Times New Roman"/>
                <a:cs typeface="Times New Roman"/>
              </a:rPr>
              <a:t> </a:t>
            </a:r>
            <a:r>
              <a:rPr sz="1800" dirty="0">
                <a:latin typeface="Times New Roman"/>
                <a:cs typeface="Times New Roman"/>
              </a:rPr>
              <a:t>Hardware</a:t>
            </a:r>
            <a:r>
              <a:rPr sz="1800" spc="-50" dirty="0">
                <a:latin typeface="Times New Roman"/>
                <a:cs typeface="Times New Roman"/>
              </a:rPr>
              <a:t> </a:t>
            </a:r>
            <a:r>
              <a:rPr sz="1800" spc="-10" dirty="0">
                <a:latin typeface="Times New Roman"/>
                <a:cs typeface="Times New Roman"/>
              </a:rPr>
              <a:t>Requirements Conclusion</a:t>
            </a:r>
            <a:endParaRPr sz="1800" dirty="0">
              <a:latin typeface="Times New Roman"/>
              <a:cs typeface="Times New Roman"/>
            </a:endParaRPr>
          </a:p>
        </p:txBody>
      </p:sp>
      <p:pic>
        <p:nvPicPr>
          <p:cNvPr id="5" name="object 5"/>
          <p:cNvPicPr/>
          <p:nvPr/>
        </p:nvPicPr>
        <p:blipFill>
          <a:blip r:embed="rId2" cstate="print"/>
          <a:stretch>
            <a:fillRect/>
          </a:stretch>
        </p:blipFill>
        <p:spPr>
          <a:xfrm>
            <a:off x="8100364" y="91808"/>
            <a:ext cx="816482" cy="9262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45983" y="543864"/>
            <a:ext cx="5645784" cy="574040"/>
          </a:xfrm>
        </p:spPr>
        <p:txBody>
          <a:bodyPr vert="horz" wrap="square" lIns="0" tIns="12700" rIns="0" bIns="0" rtlCol="0">
            <a:spAutoFit/>
          </a:bodyPr>
          <a:lstStyle/>
          <a:p>
            <a:pPr algn="ctr"/>
            <a:r>
              <a:rPr lang="en-IN"/>
              <a:t>Abstract</a:t>
            </a:r>
          </a:p>
        </p:txBody>
      </p:sp>
      <p:sp>
        <p:nvSpPr>
          <p:cNvPr id="7" name="Text Placeholder 6">
            <a:extLst>
              <a:ext uri="{FF2B5EF4-FFF2-40B4-BE49-F238E27FC236}">
                <a16:creationId xmlns:a16="http://schemas.microsoft.com/office/drawing/2014/main" id="{7CE3C6C7-7D22-15CF-2B5F-C8B28A3B0734}"/>
              </a:ext>
            </a:extLst>
          </p:cNvPr>
          <p:cNvSpPr>
            <a:spLocks noGrp="1"/>
          </p:cNvSpPr>
          <p:nvPr>
            <p:ph type="body" idx="1"/>
          </p:nvPr>
        </p:nvSpPr>
        <p:spPr>
          <a:xfrm>
            <a:off x="833120" y="1269457"/>
            <a:ext cx="8074442" cy="2769989"/>
          </a:xfrm>
        </p:spPr>
        <p:txBody>
          <a:bodyPr/>
          <a:lstStyle/>
          <a:p>
            <a:pPr algn="just"/>
            <a:r>
              <a:rPr lang="en-US" dirty="0"/>
              <a:t>The rapid growth of internet and digital technologies has greatly transformed modern business practices, particularly in electronic commerce. This project focuses on the design and development of an Online Ordering System under an e-commerce website. The system allows users to register, browse products, add items to a shopping cart, and place orders through an online platform. It also supports secure order processing and online payment functionality. An administrative module is included to manage products, monitor customer orders, and update order status efficiently. The system reduces manual effort, minimizes errors, and improves operational efficiency through automation. Overall, the project provides a user-friendly and scalable solution suitable for small to medium-sized online businesses.</a:t>
            </a:r>
            <a:endParaRPr lang="en-IN" dirty="0"/>
          </a:p>
        </p:txBody>
      </p:sp>
      <p:pic>
        <p:nvPicPr>
          <p:cNvPr id="4" name="object 4"/>
          <p:cNvPicPr/>
          <p:nvPr/>
        </p:nvPicPr>
        <p:blipFill>
          <a:blip r:embed="rId2" cstate="print"/>
          <a:stretch>
            <a:fillRect/>
          </a:stretch>
        </p:blipFill>
        <p:spPr>
          <a:xfrm>
            <a:off x="8172360" y="94691"/>
            <a:ext cx="816482" cy="926274"/>
          </a:xfrm>
          <a:prstGeom prst="rect">
            <a:avLst/>
          </a:prstGeom>
        </p:spPr>
      </p:pic>
      <p:pic>
        <p:nvPicPr>
          <p:cNvPr id="5" name="object 5"/>
          <p:cNvPicPr/>
          <p:nvPr/>
        </p:nvPicPr>
        <p:blipFill>
          <a:blip r:embed="rId3" cstate="print"/>
          <a:stretch>
            <a:fillRect/>
          </a:stretch>
        </p:blipFill>
        <p:spPr>
          <a:xfrm>
            <a:off x="2290686" y="4191000"/>
            <a:ext cx="4562284" cy="25140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58430" y="327407"/>
            <a:ext cx="10275147" cy="785420"/>
          </a:xfrm>
          <a:prstGeom prst="rect">
            <a:avLst/>
          </a:prstGeom>
        </p:spPr>
        <p:txBody>
          <a:bodyPr vert="horz" wrap="square" lIns="0" tIns="229184" rIns="0" bIns="0" rtlCol="0">
            <a:spAutoFit/>
          </a:bodyPr>
          <a:lstStyle/>
          <a:p>
            <a:pPr marL="1971625">
              <a:spcBef>
                <a:spcPts val="100"/>
              </a:spcBef>
            </a:pPr>
            <a:r>
              <a:t>Problem</a:t>
            </a:r>
            <a:r>
              <a:rPr spc="-105"/>
              <a:t> </a:t>
            </a:r>
            <a:r>
              <a:rPr spc="-11"/>
              <a:t>Statement</a:t>
            </a:r>
          </a:p>
        </p:txBody>
      </p:sp>
      <p:sp>
        <p:nvSpPr>
          <p:cNvPr id="3" name="object 3"/>
          <p:cNvSpPr txBox="1"/>
          <p:nvPr/>
        </p:nvSpPr>
        <p:spPr>
          <a:xfrm>
            <a:off x="304800" y="1436653"/>
            <a:ext cx="8612582" cy="1342162"/>
          </a:xfrm>
          <a:prstGeom prst="rect">
            <a:avLst/>
          </a:prstGeom>
        </p:spPr>
        <p:txBody>
          <a:bodyPr vert="horz" wrap="square" lIns="0" tIns="12700" rIns="0" bIns="0" rtlCol="0">
            <a:spAutoFit/>
          </a:bodyPr>
          <a:lstStyle/>
          <a:p>
            <a:pPr marL="12700" marR="5080" algn="just">
              <a:lnSpc>
                <a:spcPct val="150000"/>
              </a:lnSpc>
              <a:spcBef>
                <a:spcPts val="100"/>
              </a:spcBef>
              <a:tabLst>
                <a:tab pos="355591" algn="l"/>
              </a:tabLst>
            </a:pPr>
            <a:r>
              <a:rPr lang="en-US" sz="2000"/>
              <a:t>Existing online ordering systems lack proper automation, leading to inefficiencies, delays, errors, poor customer experience, and limited real-time administrative control.</a:t>
            </a:r>
            <a:endParaRPr sz="2000">
              <a:latin typeface="Times New Roman"/>
              <a:cs typeface="Times New Roman"/>
            </a:endParaRPr>
          </a:p>
        </p:txBody>
      </p:sp>
      <p:pic>
        <p:nvPicPr>
          <p:cNvPr id="4" name="object 4"/>
          <p:cNvPicPr/>
          <p:nvPr/>
        </p:nvPicPr>
        <p:blipFill>
          <a:blip r:embed="rId2" cstate="print"/>
          <a:stretch>
            <a:fillRect/>
          </a:stretch>
        </p:blipFill>
        <p:spPr>
          <a:xfrm>
            <a:off x="8100442" y="117782"/>
            <a:ext cx="816940" cy="9266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0" y="290386"/>
            <a:ext cx="7705725" cy="635559"/>
          </a:xfrm>
          <a:prstGeom prst="rect">
            <a:avLst/>
          </a:prstGeom>
        </p:spPr>
        <p:txBody>
          <a:bodyPr vert="horz" wrap="square" lIns="0" tIns="80772" rIns="0" bIns="0" rtlCol="0">
            <a:spAutoFit/>
          </a:bodyPr>
          <a:lstStyle/>
          <a:p>
            <a:pPr marL="1910032">
              <a:spcBef>
                <a:spcPts val="100"/>
              </a:spcBef>
            </a:pPr>
            <a:r>
              <a:rPr spc="-11"/>
              <a:t>Literature</a:t>
            </a:r>
            <a:r>
              <a:rPr spc="-131"/>
              <a:t> </a:t>
            </a:r>
            <a:r>
              <a:rPr spc="-11"/>
              <a:t>Survey</a:t>
            </a:r>
          </a:p>
        </p:txBody>
      </p:sp>
      <p:pic>
        <p:nvPicPr>
          <p:cNvPr id="4" name="object 4"/>
          <p:cNvPicPr/>
          <p:nvPr/>
        </p:nvPicPr>
        <p:blipFill>
          <a:blip r:embed="rId2" cstate="print"/>
          <a:stretch>
            <a:fillRect/>
          </a:stretch>
        </p:blipFill>
        <p:spPr>
          <a:xfrm>
            <a:off x="8082026" y="144833"/>
            <a:ext cx="816940" cy="926667"/>
          </a:xfrm>
          <a:prstGeom prst="rect">
            <a:avLst/>
          </a:prstGeom>
        </p:spPr>
      </p:pic>
      <p:pic>
        <p:nvPicPr>
          <p:cNvPr id="5" name="Picture 4">
            <a:extLst>
              <a:ext uri="{FF2B5EF4-FFF2-40B4-BE49-F238E27FC236}">
                <a16:creationId xmlns:a16="http://schemas.microsoft.com/office/drawing/2014/main" id="{5F425E8F-E604-EAFC-8E6C-7BF00670D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25945"/>
            <a:ext cx="9144000" cy="59320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7CD46-9A7C-4FB3-4153-536474ABD37D}"/>
              </a:ext>
            </a:extLst>
          </p:cNvPr>
          <p:cNvSpPr>
            <a:spLocks noGrp="1"/>
          </p:cNvSpPr>
          <p:nvPr>
            <p:ph type="title"/>
          </p:nvPr>
        </p:nvSpPr>
        <p:spPr>
          <a:xfrm>
            <a:off x="1066800" y="543864"/>
            <a:ext cx="6424967" cy="1107996"/>
          </a:xfrm>
        </p:spPr>
        <p:txBody>
          <a:bodyPr/>
          <a:lstStyle/>
          <a:p>
            <a:r>
              <a:rPr lang="en-US" dirty="0"/>
              <a:t>Limitations of Existing system</a:t>
            </a:r>
            <a:endParaRPr lang="en-IN" dirty="0"/>
          </a:p>
        </p:txBody>
      </p:sp>
      <p:sp>
        <p:nvSpPr>
          <p:cNvPr id="3" name="Text Placeholder 2">
            <a:extLst>
              <a:ext uri="{FF2B5EF4-FFF2-40B4-BE49-F238E27FC236}">
                <a16:creationId xmlns:a16="http://schemas.microsoft.com/office/drawing/2014/main" id="{2949938D-0C32-9A32-CF15-D38D33EDEF31}"/>
              </a:ext>
            </a:extLst>
          </p:cNvPr>
          <p:cNvSpPr>
            <a:spLocks noGrp="1"/>
          </p:cNvSpPr>
          <p:nvPr>
            <p:ph type="body" idx="1"/>
          </p:nvPr>
        </p:nvSpPr>
        <p:spPr>
          <a:xfrm>
            <a:off x="1371600" y="1327226"/>
            <a:ext cx="7710830" cy="2215991"/>
          </a:xfrm>
        </p:spPr>
        <p:txBody>
          <a:bodyPr/>
          <a:lstStyle/>
          <a:p>
            <a:pPr marL="285750" indent="-285750" algn="just">
              <a:buFont typeface="Arial" panose="020B0604020202020204" pitchFamily="34" charset="0"/>
              <a:buChar char="•"/>
            </a:pPr>
            <a:r>
              <a:rPr lang="en-US" dirty="0"/>
              <a:t>Manual or phone-based order processing</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Time-consuming and inefficient operations</a:t>
            </a:r>
          </a:p>
          <a:p>
            <a:pPr algn="just"/>
            <a:endParaRPr lang="en-US" dirty="0"/>
          </a:p>
          <a:p>
            <a:pPr marL="285750" indent="-285750" algn="just">
              <a:buFont typeface="Arial" panose="020B0604020202020204" pitchFamily="34" charset="0"/>
              <a:buChar char="•"/>
            </a:pPr>
            <a:r>
              <a:rPr lang="en-US" dirty="0"/>
              <a:t>Difficult menu and order management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High dependency on human intervention</a:t>
            </a:r>
          </a:p>
          <a:p>
            <a:endParaRPr lang="en-IN" dirty="0"/>
          </a:p>
        </p:txBody>
      </p:sp>
    </p:spTree>
    <p:extLst>
      <p:ext uri="{BB962C8B-B14F-4D97-AF65-F5344CB8AC3E}">
        <p14:creationId xmlns:p14="http://schemas.microsoft.com/office/powerpoint/2010/main" val="3113166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172360" y="91808"/>
            <a:ext cx="816482" cy="926274"/>
          </a:xfrm>
          <a:prstGeom prst="rect">
            <a:avLst/>
          </a:prstGeom>
        </p:spPr>
      </p:pic>
      <p:sp>
        <p:nvSpPr>
          <p:cNvPr id="11" name="object 2"/>
          <p:cNvSpPr txBox="1">
            <a:spLocks noGrp="1"/>
          </p:cNvSpPr>
          <p:nvPr>
            <p:ph type="ctrTitle"/>
          </p:nvPr>
        </p:nvSpPr>
        <p:spPr>
          <a:xfrm>
            <a:off x="1371600" y="122288"/>
            <a:ext cx="7467600" cy="566822"/>
          </a:xfrm>
          <a:prstGeom prst="rect">
            <a:avLst/>
          </a:prstGeom>
        </p:spPr>
        <p:txBody>
          <a:bodyPr vert="horz" wrap="square" lIns="0" tIns="12700" rIns="0" bIns="0" rtlCol="0">
            <a:spAutoFit/>
          </a:bodyPr>
          <a:lstStyle/>
          <a:p>
            <a:pPr marL="1299210">
              <a:lnSpc>
                <a:spcPct val="100000"/>
              </a:lnSpc>
              <a:spcBef>
                <a:spcPts val="100"/>
              </a:spcBef>
            </a:pPr>
            <a:r>
              <a:rPr lang="en-IN" spc="-114"/>
              <a:t>Proposed</a:t>
            </a:r>
            <a:r>
              <a:rPr lang="en-IN" spc="-90"/>
              <a:t> </a:t>
            </a:r>
            <a:r>
              <a:rPr lang="en-IN" spc="-75"/>
              <a:t>System</a:t>
            </a:r>
            <a:endParaRPr spc="-75"/>
          </a:p>
        </p:txBody>
      </p:sp>
      <p:sp>
        <p:nvSpPr>
          <p:cNvPr id="12" name="Rectangle 2">
            <a:extLst>
              <a:ext uri="{FF2B5EF4-FFF2-40B4-BE49-F238E27FC236}">
                <a16:creationId xmlns:a16="http://schemas.microsoft.com/office/drawing/2014/main" id="{AA77977C-5C95-A4AD-20EB-784B9399BC04}"/>
              </a:ext>
            </a:extLst>
          </p:cNvPr>
          <p:cNvSpPr>
            <a:spLocks noGrp="1" noChangeArrowheads="1"/>
          </p:cNvSpPr>
          <p:nvPr>
            <p:ph type="subTitle" idx="4"/>
          </p:nvPr>
        </p:nvSpPr>
        <p:spPr bwMode="auto">
          <a:xfrm>
            <a:off x="1066800" y="1072385"/>
            <a:ext cx="710556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secure user registration and authentication for customers.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product catalog display for easy browsing and selection of products.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 shopping cart functionality and order placement process.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 secure order processing with online payment options.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an administrative module for product management and order monitoring.</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real-time order status updates to improve efficiency and user experience.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FE8E7-9099-C505-6582-B3564CE175A9}"/>
              </a:ext>
            </a:extLst>
          </p:cNvPr>
          <p:cNvSpPr>
            <a:spLocks noGrp="1"/>
          </p:cNvSpPr>
          <p:nvPr>
            <p:ph type="title"/>
          </p:nvPr>
        </p:nvSpPr>
        <p:spPr/>
        <p:txBody>
          <a:bodyPr/>
          <a:lstStyle/>
          <a:p>
            <a:r>
              <a:rPr lang="en-US"/>
              <a:t>Features of the System</a:t>
            </a:r>
            <a:endParaRPr lang="en-IN"/>
          </a:p>
        </p:txBody>
      </p:sp>
      <p:sp>
        <p:nvSpPr>
          <p:cNvPr id="4" name="Rectangle 1">
            <a:extLst>
              <a:ext uri="{FF2B5EF4-FFF2-40B4-BE49-F238E27FC236}">
                <a16:creationId xmlns:a16="http://schemas.microsoft.com/office/drawing/2014/main" id="{CEB2D912-3252-6219-052A-42CE3AE5E057}"/>
              </a:ext>
            </a:extLst>
          </p:cNvPr>
          <p:cNvSpPr>
            <a:spLocks noGrp="1" noChangeArrowheads="1"/>
          </p:cNvSpPr>
          <p:nvPr>
            <p:ph type="body" idx="1"/>
          </p:nvPr>
        </p:nvSpPr>
        <p:spPr bwMode="auto">
          <a:xfrm>
            <a:off x="1229360" y="1180129"/>
            <a:ext cx="785307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Secure user authentication for controlled system access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Centralized database for storing user, order, and product information</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Web-based ordering platform accessible through browsers</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order processing and record management</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Admin-controlled product and order management system</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Real-time update of order status in the system</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User-friendly and responsive web interface</a:t>
            </a:r>
          </a:p>
        </p:txBody>
      </p:sp>
    </p:spTree>
    <p:extLst>
      <p:ext uri="{BB962C8B-B14F-4D97-AF65-F5344CB8AC3E}">
        <p14:creationId xmlns:p14="http://schemas.microsoft.com/office/powerpoint/2010/main" val="955079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E9F1-314A-239B-334C-8D7AF49DA527}"/>
              </a:ext>
            </a:extLst>
          </p:cNvPr>
          <p:cNvSpPr>
            <a:spLocks noGrp="1"/>
          </p:cNvSpPr>
          <p:nvPr>
            <p:ph type="title"/>
          </p:nvPr>
        </p:nvSpPr>
        <p:spPr>
          <a:xfrm>
            <a:off x="599440" y="543864"/>
            <a:ext cx="6892327" cy="574040"/>
          </a:xfrm>
        </p:spPr>
        <p:txBody>
          <a:bodyPr/>
          <a:lstStyle/>
          <a:p>
            <a:pPr algn="ctr"/>
            <a:r>
              <a:rPr lang="en-US" dirty="0"/>
              <a:t>Extra Features</a:t>
            </a:r>
            <a:endParaRPr lang="en-IN" dirty="0"/>
          </a:p>
        </p:txBody>
      </p:sp>
      <p:sp>
        <p:nvSpPr>
          <p:cNvPr id="3" name="Text Placeholder 2">
            <a:extLst>
              <a:ext uri="{FF2B5EF4-FFF2-40B4-BE49-F238E27FC236}">
                <a16:creationId xmlns:a16="http://schemas.microsoft.com/office/drawing/2014/main" id="{5F76215E-EFCB-D030-43E0-26C3DD8BD38A}"/>
              </a:ext>
            </a:extLst>
          </p:cNvPr>
          <p:cNvSpPr>
            <a:spLocks noGrp="1"/>
          </p:cNvSpPr>
          <p:nvPr>
            <p:ph type="body" idx="1"/>
          </p:nvPr>
        </p:nvSpPr>
        <p:spPr>
          <a:xfrm>
            <a:off x="1879600" y="1513840"/>
            <a:ext cx="3413760" cy="2492990"/>
          </a:xfrm>
        </p:spPr>
        <p:txBody>
          <a:bodyPr/>
          <a:lstStyle/>
          <a:p>
            <a:pPr marL="285750" indent="-285750" algn="just">
              <a:buFont typeface="Arial" panose="020B0604020202020204" pitchFamily="34" charset="0"/>
              <a:buChar char="•"/>
            </a:pPr>
            <a:r>
              <a:rPr lang="en-IN" dirty="0"/>
              <a:t>Smart Meal Planning System</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Health &amp; Nutrition-Based Ordering</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Local Home-Chef Marketplace</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Budget-Based Ordering</a:t>
            </a:r>
          </a:p>
          <a:p>
            <a:pPr algn="just"/>
            <a:endParaRPr lang="en-IN" dirty="0"/>
          </a:p>
        </p:txBody>
      </p:sp>
    </p:spTree>
    <p:extLst>
      <p:ext uri="{BB962C8B-B14F-4D97-AF65-F5344CB8AC3E}">
        <p14:creationId xmlns:p14="http://schemas.microsoft.com/office/powerpoint/2010/main" val="2457800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object 22"/>
          <p:cNvSpPr txBox="1"/>
          <p:nvPr/>
        </p:nvSpPr>
        <p:spPr>
          <a:xfrm>
            <a:off x="1981200" y="2474125"/>
            <a:ext cx="6305550" cy="1449115"/>
          </a:xfrm>
          <a:prstGeom prst="rect">
            <a:avLst/>
          </a:prstGeom>
        </p:spPr>
        <p:txBody>
          <a:bodyPr vert="horz" wrap="square" lIns="0" tIns="0" rIns="0" bIns="0" rtlCol="0">
            <a:spAutoFit/>
          </a:bodyPr>
          <a:lstStyle/>
          <a:p>
            <a:pPr>
              <a:lnSpc>
                <a:spcPct val="100000"/>
              </a:lnSpc>
              <a:spcBef>
                <a:spcPts val="375"/>
              </a:spcBef>
            </a:pPr>
            <a:endParaRPr sz="1800">
              <a:latin typeface="Arial MT"/>
              <a:cs typeface="Arial MT"/>
            </a:endParaRPr>
          </a:p>
          <a:p>
            <a:pPr>
              <a:lnSpc>
                <a:spcPct val="100000"/>
              </a:lnSpc>
            </a:pPr>
            <a:endParaRPr sz="1800">
              <a:latin typeface="Arial MT"/>
              <a:cs typeface="Arial MT"/>
            </a:endParaRPr>
          </a:p>
          <a:p>
            <a:pPr>
              <a:lnSpc>
                <a:spcPct val="100000"/>
              </a:lnSpc>
            </a:pPr>
            <a:endParaRPr sz="1800">
              <a:latin typeface="Arial MT"/>
              <a:cs typeface="Arial MT"/>
            </a:endParaRPr>
          </a:p>
          <a:p>
            <a:pPr>
              <a:lnSpc>
                <a:spcPct val="100000"/>
              </a:lnSpc>
              <a:spcBef>
                <a:spcPts val="480"/>
              </a:spcBef>
            </a:pPr>
            <a:endParaRPr sz="1800">
              <a:latin typeface="Arial MT"/>
              <a:cs typeface="Arial MT"/>
            </a:endParaRPr>
          </a:p>
          <a:p>
            <a:pPr>
              <a:lnSpc>
                <a:spcPct val="100000"/>
              </a:lnSpc>
            </a:pPr>
            <a:endParaRPr sz="1800">
              <a:latin typeface="Arial MT"/>
              <a:cs typeface="Arial MT"/>
            </a:endParaRPr>
          </a:p>
        </p:txBody>
      </p:sp>
      <p:pic>
        <p:nvPicPr>
          <p:cNvPr id="23" name="object 23"/>
          <p:cNvPicPr/>
          <p:nvPr/>
        </p:nvPicPr>
        <p:blipFill>
          <a:blip r:embed="rId2" cstate="print"/>
          <a:stretch>
            <a:fillRect/>
          </a:stretch>
        </p:blipFill>
        <p:spPr>
          <a:xfrm>
            <a:off x="8172360" y="116281"/>
            <a:ext cx="816482" cy="926274"/>
          </a:xfrm>
          <a:prstGeom prst="rect">
            <a:avLst/>
          </a:prstGeom>
        </p:spPr>
      </p:pic>
      <p:sp>
        <p:nvSpPr>
          <p:cNvPr id="24" name="object 24"/>
          <p:cNvSpPr txBox="1">
            <a:spLocks noGrp="1"/>
          </p:cNvSpPr>
          <p:nvPr>
            <p:ph type="title"/>
          </p:nvPr>
        </p:nvSpPr>
        <p:spPr>
          <a:xfrm>
            <a:off x="706221" y="314540"/>
            <a:ext cx="6305550" cy="566822"/>
          </a:xfrm>
          <a:prstGeom prst="rect">
            <a:avLst/>
          </a:prstGeom>
        </p:spPr>
        <p:txBody>
          <a:bodyPr vert="horz" wrap="square" lIns="0" tIns="12700" rIns="0" bIns="0" rtlCol="0">
            <a:spAutoFit/>
          </a:bodyPr>
          <a:lstStyle/>
          <a:p>
            <a:pPr marL="12700" marR="5080">
              <a:lnSpc>
                <a:spcPct val="100000"/>
              </a:lnSpc>
              <a:spcBef>
                <a:spcPts val="100"/>
              </a:spcBef>
            </a:pPr>
            <a:r>
              <a:rPr spc="-50"/>
              <a:t>System</a:t>
            </a:r>
            <a:r>
              <a:rPr spc="-125"/>
              <a:t> </a:t>
            </a:r>
            <a:r>
              <a:rPr spc="-180"/>
              <a:t>Framework</a:t>
            </a:r>
            <a:r>
              <a:rPr spc="-45"/>
              <a:t> </a:t>
            </a:r>
            <a:endParaRPr spc="-55"/>
          </a:p>
        </p:txBody>
      </p:sp>
      <p:pic>
        <p:nvPicPr>
          <p:cNvPr id="30" name="Picture 29">
            <a:extLst>
              <a:ext uri="{FF2B5EF4-FFF2-40B4-BE49-F238E27FC236}">
                <a16:creationId xmlns:a16="http://schemas.microsoft.com/office/drawing/2014/main" id="{89AFCC61-4CF3-7F3C-43C9-E9431BE13E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9764" y="952285"/>
            <a:ext cx="3124471" cy="59057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5"/>
              <a:t>Advantages</a:t>
            </a:r>
          </a:p>
        </p:txBody>
      </p:sp>
      <p:sp>
        <p:nvSpPr>
          <p:cNvPr id="11" name="Text Placeholder 10">
            <a:extLst>
              <a:ext uri="{FF2B5EF4-FFF2-40B4-BE49-F238E27FC236}">
                <a16:creationId xmlns:a16="http://schemas.microsoft.com/office/drawing/2014/main" id="{59C5D3B2-5652-DCC2-0FE6-10DEAECDFF3F}"/>
              </a:ext>
            </a:extLst>
          </p:cNvPr>
          <p:cNvSpPr>
            <a:spLocks noGrp="1"/>
          </p:cNvSpPr>
          <p:nvPr>
            <p:ph type="body" idx="1"/>
          </p:nvPr>
        </p:nvSpPr>
        <p:spPr>
          <a:xfrm>
            <a:off x="407060" y="1327226"/>
            <a:ext cx="8675370" cy="3600986"/>
          </a:xfrm>
        </p:spPr>
        <p:txBody>
          <a:bodyPr/>
          <a:lstStyle/>
          <a:p>
            <a:pPr marL="285750" indent="-285750" algn="just">
              <a:buFont typeface="Arial" panose="020B0604020202020204" pitchFamily="34" charset="0"/>
              <a:buChar char="•"/>
            </a:pPr>
            <a:r>
              <a:rPr lang="en-US" dirty="0"/>
              <a:t>The system automates product browsing, order placement, and order processing, reducing manual work and human errors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Orders are processed faster compared to manual systems, improving operational speed and service efficiency.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Customers and administrators can track order status in real time, ensuring transparency and timely updates.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Admin can easily manage product details and stock levels through a centralized system, improving accuracy.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Secure login and payment mechanisms enhance data security and build customer trust.</a:t>
            </a:r>
            <a:endParaRPr lang="en-IN" dirty="0"/>
          </a:p>
        </p:txBody>
      </p:sp>
      <p:pic>
        <p:nvPicPr>
          <p:cNvPr id="3" name="object 3"/>
          <p:cNvPicPr/>
          <p:nvPr/>
        </p:nvPicPr>
        <p:blipFill>
          <a:blip r:embed="rId2" cstate="print"/>
          <a:stretch>
            <a:fillRect/>
          </a:stretch>
        </p:blipFill>
        <p:spPr>
          <a:xfrm>
            <a:off x="8100364" y="60490"/>
            <a:ext cx="816482" cy="926274"/>
          </a:xfrm>
          <a:prstGeom prst="rect">
            <a:avLst/>
          </a:prstGeom>
        </p:spPr>
      </p:pic>
      <p:sp>
        <p:nvSpPr>
          <p:cNvPr id="9" name="object 9"/>
          <p:cNvSpPr txBox="1"/>
          <p:nvPr/>
        </p:nvSpPr>
        <p:spPr>
          <a:xfrm>
            <a:off x="684974" y="3784219"/>
            <a:ext cx="106045" cy="574040"/>
          </a:xfrm>
          <a:prstGeom prst="rect">
            <a:avLst/>
          </a:prstGeom>
        </p:spPr>
        <p:txBody>
          <a:bodyPr vert="horz" wrap="square" lIns="0" tIns="12700" rIns="0" bIns="0" rtlCol="0">
            <a:spAutoFit/>
          </a:bodyPr>
          <a:lstStyle/>
          <a:p>
            <a:pPr marL="12700">
              <a:lnSpc>
                <a:spcPct val="100000"/>
              </a:lnSpc>
              <a:spcBef>
                <a:spcPts val="100"/>
              </a:spcBef>
            </a:pPr>
            <a:endParaRPr sz="1800">
              <a:latin typeface="Arial MT"/>
              <a:cs typeface="Arial MT"/>
            </a:endParaRPr>
          </a:p>
          <a:p>
            <a:pPr marL="12700">
              <a:lnSpc>
                <a:spcPct val="100000"/>
              </a:lnSpc>
            </a:pPr>
            <a:endParaRPr sz="180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4000" y="543864"/>
            <a:ext cx="7745767" cy="566822"/>
          </a:xfrm>
          <a:prstGeom prst="rect">
            <a:avLst/>
          </a:prstGeom>
        </p:spPr>
        <p:txBody>
          <a:bodyPr vert="horz" wrap="square" lIns="0" tIns="12700" rIns="0" bIns="0" rtlCol="0">
            <a:spAutoFit/>
          </a:bodyPr>
          <a:lstStyle/>
          <a:p>
            <a:pPr marL="12700" algn="ctr">
              <a:lnSpc>
                <a:spcPct val="100000"/>
              </a:lnSpc>
              <a:spcBef>
                <a:spcPts val="100"/>
              </a:spcBef>
            </a:pPr>
            <a:r>
              <a:rPr lang="en-US" spc="-130"/>
              <a:t>Software and Hardware </a:t>
            </a:r>
            <a:r>
              <a:rPr spc="-130"/>
              <a:t>Requirements</a:t>
            </a:r>
          </a:p>
        </p:txBody>
      </p:sp>
      <p:sp>
        <p:nvSpPr>
          <p:cNvPr id="9" name="Text Placeholder 8">
            <a:extLst>
              <a:ext uri="{FF2B5EF4-FFF2-40B4-BE49-F238E27FC236}">
                <a16:creationId xmlns:a16="http://schemas.microsoft.com/office/drawing/2014/main" id="{B533C46B-F652-D4B4-ACEE-18E5B82051EB}"/>
              </a:ext>
            </a:extLst>
          </p:cNvPr>
          <p:cNvSpPr>
            <a:spLocks noGrp="1"/>
          </p:cNvSpPr>
          <p:nvPr>
            <p:ph type="body" idx="1"/>
          </p:nvPr>
        </p:nvSpPr>
        <p:spPr>
          <a:xfrm>
            <a:off x="354471" y="1767006"/>
            <a:ext cx="8870809" cy="3600986"/>
          </a:xfrm>
        </p:spPr>
        <p:txBody>
          <a:bodyPr/>
          <a:lstStyle/>
          <a:p>
            <a:pPr marL="285750" indent="-285750" algn="just">
              <a:buFont typeface="Arial" panose="020B0604020202020204" pitchFamily="34" charset="0"/>
              <a:buChar char="•"/>
            </a:pPr>
            <a:r>
              <a:rPr lang="en-IN" b="1" dirty="0"/>
              <a:t>Frontend </a:t>
            </a:r>
            <a:r>
              <a:rPr lang="en-IN" b="1" dirty="0" err="1"/>
              <a:t>Technologies:</a:t>
            </a:r>
            <a:r>
              <a:rPr lang="en-IN" dirty="0" err="1"/>
              <a:t>HTML</a:t>
            </a:r>
            <a:r>
              <a:rPr lang="en-IN" dirty="0"/>
              <a:t>, CSS, JavaScript</a:t>
            </a:r>
          </a:p>
          <a:p>
            <a:pPr marL="285750" indent="-285750" algn="just">
              <a:buFont typeface="Arial" panose="020B0604020202020204" pitchFamily="34" charset="0"/>
              <a:buChar char="•"/>
            </a:pPr>
            <a:endParaRPr lang="en-IN" b="1" dirty="0"/>
          </a:p>
          <a:p>
            <a:pPr marL="285750" indent="-285750" algn="just">
              <a:buFont typeface="Arial" panose="020B0604020202020204" pitchFamily="34" charset="0"/>
              <a:buChar char="•"/>
            </a:pPr>
            <a:r>
              <a:rPr lang="en-US" b="1" dirty="0"/>
              <a:t>Backend Technology:</a:t>
            </a:r>
            <a:r>
              <a:rPr lang="en-US" dirty="0"/>
              <a:t> Python (Django)</a:t>
            </a:r>
            <a:endParaRPr lang="en-US" b="1" dirty="0"/>
          </a:p>
          <a:p>
            <a:pPr marL="285750" indent="-285750" algn="just">
              <a:buFont typeface="Arial" panose="020B0604020202020204" pitchFamily="34" charset="0"/>
              <a:buChar char="•"/>
            </a:pPr>
            <a:endParaRPr lang="en-US" b="1" dirty="0"/>
          </a:p>
          <a:p>
            <a:pPr marL="285750" indent="-285750" algn="just">
              <a:buFont typeface="Arial" panose="020B0604020202020204" pitchFamily="34" charset="0"/>
              <a:buChar char="•"/>
            </a:pPr>
            <a:r>
              <a:rPr lang="en-IN" b="1" dirty="0"/>
              <a:t>Database:</a:t>
            </a:r>
            <a:r>
              <a:rPr lang="en-IN" dirty="0"/>
              <a:t> MySQL</a:t>
            </a:r>
          </a:p>
          <a:p>
            <a:pPr marL="285750" indent="-285750" algn="just">
              <a:buFont typeface="Arial" panose="020B0604020202020204" pitchFamily="34" charset="0"/>
              <a:buChar char="•"/>
            </a:pPr>
            <a:endParaRPr lang="en-IN" b="1" dirty="0"/>
          </a:p>
          <a:p>
            <a:pPr marL="285750" indent="-285750" algn="just">
              <a:buFont typeface="Arial" panose="020B0604020202020204" pitchFamily="34" charset="0"/>
              <a:buChar char="•"/>
            </a:pPr>
            <a:r>
              <a:rPr lang="en-IN" b="1" dirty="0"/>
              <a:t>Web Server:</a:t>
            </a:r>
            <a:r>
              <a:rPr lang="en-IN" dirty="0"/>
              <a:t> Apache</a:t>
            </a:r>
          </a:p>
          <a:p>
            <a:pPr marL="285750" indent="-285750" algn="just">
              <a:buFont typeface="Arial" panose="020B0604020202020204" pitchFamily="34" charset="0"/>
              <a:buChar char="•"/>
            </a:pPr>
            <a:endParaRPr lang="en-IN" b="1" dirty="0"/>
          </a:p>
          <a:p>
            <a:pPr marL="285750" indent="-285750" algn="just">
              <a:buFont typeface="Arial" panose="020B0604020202020204" pitchFamily="34" charset="0"/>
              <a:buChar char="•"/>
            </a:pPr>
            <a:r>
              <a:rPr lang="en-IN" b="1" dirty="0"/>
              <a:t>Development Tools:</a:t>
            </a:r>
            <a:r>
              <a:rPr lang="en-IN" dirty="0"/>
              <a:t> VS Code </a:t>
            </a:r>
          </a:p>
          <a:p>
            <a:pPr marL="285750" indent="-285750" algn="just">
              <a:buFont typeface="Arial" panose="020B0604020202020204" pitchFamily="34" charset="0"/>
              <a:buChar char="•"/>
            </a:pPr>
            <a:endParaRPr lang="en-IN" b="1" dirty="0"/>
          </a:p>
          <a:p>
            <a:pPr marL="285750" indent="-285750" algn="just">
              <a:buFont typeface="Arial" panose="020B0604020202020204" pitchFamily="34" charset="0"/>
              <a:buChar char="•"/>
            </a:pPr>
            <a:r>
              <a:rPr lang="en-IN" b="1" dirty="0"/>
              <a:t>Browser:</a:t>
            </a:r>
            <a:r>
              <a:rPr lang="en-IN" dirty="0"/>
              <a:t> Google Chrome</a:t>
            </a:r>
          </a:p>
          <a:p>
            <a:endParaRPr lang="en-IN" b="1" dirty="0"/>
          </a:p>
          <a:p>
            <a:endParaRPr lang="en-IN" b="1" dirty="0"/>
          </a:p>
        </p:txBody>
      </p:sp>
      <p:sp>
        <p:nvSpPr>
          <p:cNvPr id="3" name="object 3"/>
          <p:cNvSpPr txBox="1"/>
          <p:nvPr/>
        </p:nvSpPr>
        <p:spPr>
          <a:xfrm>
            <a:off x="551737" y="1244761"/>
            <a:ext cx="7523480" cy="641201"/>
          </a:xfrm>
          <a:prstGeom prst="rect">
            <a:avLst/>
          </a:prstGeom>
        </p:spPr>
        <p:txBody>
          <a:bodyPr vert="horz" wrap="square" lIns="0" tIns="12700" rIns="0" bIns="0" rtlCol="0">
            <a:spAutoFit/>
          </a:bodyPr>
          <a:lstStyle/>
          <a:p>
            <a:pPr marL="25400" algn="ctr">
              <a:lnSpc>
                <a:spcPct val="100000"/>
              </a:lnSpc>
              <a:spcBef>
                <a:spcPts val="100"/>
              </a:spcBef>
            </a:pPr>
            <a:r>
              <a:rPr sz="2000" b="1" spc="-50" dirty="0">
                <a:latin typeface="Times New Roman"/>
                <a:cs typeface="Times New Roman"/>
              </a:rPr>
              <a:t>Software</a:t>
            </a:r>
            <a:r>
              <a:rPr sz="2000" b="1" spc="-65" dirty="0">
                <a:latin typeface="Times New Roman"/>
                <a:cs typeface="Times New Roman"/>
              </a:rPr>
              <a:t> </a:t>
            </a:r>
            <a:r>
              <a:rPr sz="2000" b="1" spc="-20" dirty="0">
                <a:latin typeface="Times New Roman"/>
                <a:cs typeface="Times New Roman"/>
              </a:rPr>
              <a:t>Requirements:</a:t>
            </a:r>
            <a:endParaRPr lang="en-US" sz="2000" b="1" spc="-20" dirty="0">
              <a:latin typeface="Times New Roman"/>
              <a:cs typeface="Times New Roman"/>
            </a:endParaRPr>
          </a:p>
          <a:p>
            <a:pPr marL="25400">
              <a:lnSpc>
                <a:spcPct val="100000"/>
              </a:lnSpc>
              <a:spcBef>
                <a:spcPts val="100"/>
              </a:spcBef>
            </a:pPr>
            <a:endParaRPr sz="2000" dirty="0">
              <a:latin typeface="Times New Roman"/>
              <a:cs typeface="Times New Roman"/>
            </a:endParaRPr>
          </a:p>
        </p:txBody>
      </p:sp>
      <p:pic>
        <p:nvPicPr>
          <p:cNvPr id="8" name="object 8"/>
          <p:cNvPicPr/>
          <p:nvPr/>
        </p:nvPicPr>
        <p:blipFill>
          <a:blip r:embed="rId2" cstate="print"/>
          <a:stretch>
            <a:fillRect/>
          </a:stretch>
        </p:blipFill>
        <p:spPr>
          <a:xfrm>
            <a:off x="8288642" y="32765"/>
            <a:ext cx="816482" cy="92627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76C7-B246-802F-92E1-E35D40755C58}"/>
              </a:ext>
            </a:extLst>
          </p:cNvPr>
          <p:cNvSpPr>
            <a:spLocks noGrp="1"/>
          </p:cNvSpPr>
          <p:nvPr>
            <p:ph type="title"/>
          </p:nvPr>
        </p:nvSpPr>
        <p:spPr/>
        <p:txBody>
          <a:bodyPr/>
          <a:lstStyle/>
          <a:p>
            <a:r>
              <a:rPr lang="en-US"/>
              <a:t>Hardware Requirements</a:t>
            </a:r>
            <a:endParaRPr lang="en-IN"/>
          </a:p>
        </p:txBody>
      </p:sp>
      <p:sp>
        <p:nvSpPr>
          <p:cNvPr id="4" name="Rectangle 1">
            <a:extLst>
              <a:ext uri="{FF2B5EF4-FFF2-40B4-BE49-F238E27FC236}">
                <a16:creationId xmlns:a16="http://schemas.microsoft.com/office/drawing/2014/main" id="{B25DDE41-CCB3-A649-8346-0E4F346ADA91}"/>
              </a:ext>
            </a:extLst>
          </p:cNvPr>
          <p:cNvSpPr>
            <a:spLocks noGrp="1" noChangeArrowheads="1"/>
          </p:cNvSpPr>
          <p:nvPr>
            <p:ph type="body" idx="1"/>
          </p:nvPr>
        </p:nvSpPr>
        <p:spPr bwMode="auto">
          <a:xfrm>
            <a:off x="121920" y="1154588"/>
            <a:ext cx="601472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Processor:</a:t>
            </a:r>
            <a:r>
              <a:rPr kumimoji="0" lang="en-US" altLang="en-US" sz="1800" b="0" i="0" u="none" strike="noStrike" cap="none" normalizeH="0" baseline="0" dirty="0">
                <a:ln>
                  <a:noFill/>
                </a:ln>
                <a:solidFill>
                  <a:schemeClr val="tx1"/>
                </a:solidFill>
                <a:effectLst/>
                <a:latin typeface="Arial" panose="020B0604020202020204" pitchFamily="34" charset="0"/>
              </a:rPr>
              <a:t> Intel Core i3 or higher</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RAM:</a:t>
            </a:r>
            <a:r>
              <a:rPr kumimoji="0" lang="en-US" altLang="en-US" sz="1800" b="0" i="0" u="none" strike="noStrike" cap="none" normalizeH="0" baseline="0" dirty="0">
                <a:ln>
                  <a:noFill/>
                </a:ln>
                <a:solidFill>
                  <a:schemeClr val="tx1"/>
                </a:solidFill>
                <a:effectLst/>
                <a:latin typeface="Arial" panose="020B0604020202020204" pitchFamily="34" charset="0"/>
              </a:rPr>
              <a:t> Minimum 4 GB</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Hard Disk:</a:t>
            </a:r>
            <a:r>
              <a:rPr kumimoji="0" lang="en-US" altLang="en-US" sz="1800" b="0" i="0" u="none" strike="noStrike" cap="none" normalizeH="0" baseline="0" dirty="0">
                <a:ln>
                  <a:noFill/>
                </a:ln>
                <a:solidFill>
                  <a:schemeClr val="tx1"/>
                </a:solidFill>
                <a:effectLst/>
                <a:latin typeface="Arial" panose="020B0604020202020204" pitchFamily="34" charset="0"/>
              </a:rPr>
              <a:t> 100 GB free space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System Type:</a:t>
            </a:r>
            <a:r>
              <a:rPr kumimoji="0" lang="en-US" altLang="en-US" sz="1800" b="0" i="0" u="none" strike="noStrike" cap="none" normalizeH="0" baseline="0" dirty="0">
                <a:ln>
                  <a:noFill/>
                </a:ln>
                <a:solidFill>
                  <a:schemeClr val="tx1"/>
                </a:solidFill>
                <a:effectLst/>
                <a:latin typeface="Arial" panose="020B0604020202020204" pitchFamily="34" charset="0"/>
              </a:rPr>
              <a:t> 64-bit architecture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Internet Connection:</a:t>
            </a:r>
            <a:r>
              <a:rPr kumimoji="0" lang="en-US" altLang="en-US" sz="1800" b="0" i="0" u="none" strike="noStrike" cap="none" normalizeH="0" baseline="0" dirty="0">
                <a:ln>
                  <a:noFill/>
                </a:ln>
                <a:solidFill>
                  <a:schemeClr val="tx1"/>
                </a:solidFill>
                <a:effectLst/>
                <a:latin typeface="Arial" panose="020B0604020202020204" pitchFamily="34" charset="0"/>
              </a:rPr>
              <a:t> Required</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Input Devices:</a:t>
            </a:r>
            <a:r>
              <a:rPr kumimoji="0" lang="en-US" altLang="en-US" sz="1800" b="0" i="0" u="none" strike="noStrike" cap="none" normalizeH="0" baseline="0" dirty="0">
                <a:ln>
                  <a:noFill/>
                </a:ln>
                <a:solidFill>
                  <a:schemeClr val="tx1"/>
                </a:solidFill>
                <a:effectLst/>
                <a:latin typeface="Arial" panose="020B0604020202020204" pitchFamily="34" charset="0"/>
              </a:rPr>
              <a:t> Keyboard, Mouse</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 Devices:</a:t>
            </a:r>
            <a:r>
              <a:rPr kumimoji="0" lang="en-US" altLang="en-US" sz="1800" b="0" i="0" u="none" strike="noStrike" cap="none" normalizeH="0" baseline="0" dirty="0">
                <a:ln>
                  <a:noFill/>
                </a:ln>
                <a:solidFill>
                  <a:schemeClr val="tx1"/>
                </a:solidFill>
                <a:effectLst/>
                <a:latin typeface="Arial" panose="020B0604020202020204" pitchFamily="34" charset="0"/>
              </a:rPr>
              <a:t> Monitor</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422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871980">
              <a:lnSpc>
                <a:spcPct val="100000"/>
              </a:lnSpc>
              <a:spcBef>
                <a:spcPts val="100"/>
              </a:spcBef>
            </a:pPr>
            <a:r>
              <a:rPr spc="-90"/>
              <a:t>Conclusion</a:t>
            </a:r>
          </a:p>
        </p:txBody>
      </p:sp>
      <p:sp>
        <p:nvSpPr>
          <p:cNvPr id="13" name="Text Placeholder 12">
            <a:extLst>
              <a:ext uri="{FF2B5EF4-FFF2-40B4-BE49-F238E27FC236}">
                <a16:creationId xmlns:a16="http://schemas.microsoft.com/office/drawing/2014/main" id="{C2F33219-6075-211A-96B9-E24C3E2E6EE5}"/>
              </a:ext>
            </a:extLst>
          </p:cNvPr>
          <p:cNvSpPr>
            <a:spLocks noGrp="1"/>
          </p:cNvSpPr>
          <p:nvPr>
            <p:ph type="body" idx="1"/>
          </p:nvPr>
        </p:nvSpPr>
        <p:spPr>
          <a:xfrm>
            <a:off x="331190" y="1327226"/>
            <a:ext cx="8675370" cy="3046988"/>
          </a:xfrm>
        </p:spPr>
        <p:txBody>
          <a:bodyPr/>
          <a:lstStyle/>
          <a:p>
            <a:pPr marL="285750" indent="-285750" algn="just">
              <a:buFont typeface="Arial" panose="020B0604020202020204" pitchFamily="34" charset="0"/>
              <a:buChar char="•"/>
            </a:pPr>
            <a:r>
              <a:rPr lang="en-US" dirty="0"/>
              <a:t>The Online Ordering System provides a user-friendly platform for browsing products, placing orders, and making secure online payments.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system automates the ordering process, reducing manual effort, minimizing errors, and improving operational efficiency.</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admin module enables effective product and order management, making the system scalable for small to medium-sized businesses.</a:t>
            </a:r>
          </a:p>
          <a:p>
            <a:endParaRPr lang="en-IN" dirty="0"/>
          </a:p>
        </p:txBody>
      </p:sp>
      <p:pic>
        <p:nvPicPr>
          <p:cNvPr id="10" name="object 10"/>
          <p:cNvPicPr/>
          <p:nvPr/>
        </p:nvPicPr>
        <p:blipFill>
          <a:blip r:embed="rId2" cstate="print"/>
          <a:stretch>
            <a:fillRect/>
          </a:stretch>
        </p:blipFill>
        <p:spPr>
          <a:xfrm>
            <a:off x="8172360" y="82080"/>
            <a:ext cx="816482" cy="92627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43000" y="814679"/>
            <a:ext cx="5994006" cy="5244846"/>
          </a:xfrm>
          <a:prstGeom prst="rect">
            <a:avLst/>
          </a:prstGeom>
        </p:spPr>
      </p:pic>
      <p:pic>
        <p:nvPicPr>
          <p:cNvPr id="3" name="object 3"/>
          <p:cNvPicPr/>
          <p:nvPr/>
        </p:nvPicPr>
        <p:blipFill>
          <a:blip r:embed="rId3" cstate="print"/>
          <a:stretch>
            <a:fillRect/>
          </a:stretch>
        </p:blipFill>
        <p:spPr>
          <a:xfrm>
            <a:off x="8172360" y="116281"/>
            <a:ext cx="816482" cy="92627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25E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TotalTime>
  <Words>616</Words>
  <Application>Microsoft Office PowerPoint</Application>
  <PresentationFormat>On-screen Show (4:3)</PresentationFormat>
  <Paragraphs>120</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MT</vt:lpstr>
      <vt:lpstr>Calibri</vt:lpstr>
      <vt:lpstr>Times New Roman</vt:lpstr>
      <vt:lpstr>Office Theme</vt:lpstr>
      <vt:lpstr>Online Food Ordeing System Under E-commerce</vt:lpstr>
      <vt:lpstr>CONTENTS</vt:lpstr>
      <vt:lpstr>Abstract</vt:lpstr>
      <vt:lpstr>Problem Statement</vt:lpstr>
      <vt:lpstr>Literature Survey</vt:lpstr>
      <vt:lpstr>Limitations of Existing system</vt:lpstr>
      <vt:lpstr>Proposed System</vt:lpstr>
      <vt:lpstr>Features of the System</vt:lpstr>
      <vt:lpstr>Extra Features</vt:lpstr>
      <vt:lpstr>System Framework </vt:lpstr>
      <vt:lpstr>Advantages</vt:lpstr>
      <vt:lpstr>Software and Hardware Requirements</vt:lpstr>
      <vt:lpstr>Hardware Requirements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badugu pavan</cp:lastModifiedBy>
  <cp:revision>6</cp:revision>
  <dcterms:created xsi:type="dcterms:W3CDTF">2026-02-04T07:57:41Z</dcterms:created>
  <dcterms:modified xsi:type="dcterms:W3CDTF">2026-03-22T13:13:06Z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2026-02-03T00:00:00Z</vt:filetime>
  </property>
  <property fmtid="{D5CDD505-2E9C-101B-9397-08002B2CF9AE}" pid="3" name="Creator">
    <vt:lpwstr>Impress</vt:lpwstr>
  </property>
  <property fmtid="{D5CDD505-2E9C-101B-9397-08002B2CF9AE}" pid="4" name="Producer">
    <vt:lpwstr>LibreOfficeDev 24.8.7.2.0 (AARCH64) / LibreOffice Community</vt:lpwstr>
  </property>
  <property fmtid="{D5CDD505-2E9C-101B-9397-08002B2CF9AE}" pid="5" name="LastSaved">
    <vt:filetime>2026-02-03T00:00:00Z</vt:filetime>
  </property>
</Properties>
</file>