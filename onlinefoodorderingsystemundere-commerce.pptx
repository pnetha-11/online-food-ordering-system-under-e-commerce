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AF6005E-0385-4656-B235-8D695AA44AF4}"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28D6E9-E76A-4314-A56D-D22C7B44DA4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F6005E-0385-4656-B235-8D695AA44AF4}"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28D6E9-E76A-4314-A56D-D22C7B44DA4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F6005E-0385-4656-B235-8D695AA44AF4}"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28D6E9-E76A-4314-A56D-D22C7B44DA4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AF6005E-0385-4656-B235-8D695AA44AF4}"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28D6E9-E76A-4314-A56D-D22C7B44DA4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F6005E-0385-4656-B235-8D695AA44AF4}"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28D6E9-E76A-4314-A56D-D22C7B44DA4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AF6005E-0385-4656-B235-8D695AA44AF4}"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28D6E9-E76A-4314-A56D-D22C7B44DA4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F6005E-0385-4656-B235-8D695AA44AF4}"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28D6E9-E76A-4314-A56D-D22C7B44DA4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F6005E-0385-4656-B235-8D695AA44AF4}"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28D6E9-E76A-4314-A56D-D22C7B44DA4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F6005E-0385-4656-B235-8D695AA44AF4}"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28D6E9-E76A-4314-A56D-D22C7B44DA4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F6005E-0385-4656-B235-8D695AA44AF4}"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28D6E9-E76A-4314-A56D-D22C7B44DA4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F6005E-0385-4656-B235-8D695AA44AF4}"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28D6E9-E76A-4314-A56D-D22C7B44DA4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F6005E-0385-4656-B235-8D695AA44AF4}"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28D6E9-E76A-4314-A56D-D22C7B44DA4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7.jp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8.jp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9.jp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3" Type="http://schemas.openxmlformats.org/officeDocument/2006/relationships/image" Target="../media/image11.jpg" /><Relationship Id="rId2" Type="http://schemas.openxmlformats.org/officeDocument/2006/relationships/image" Target="../media/image10.jp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12.jp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13.jp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3" Type="http://schemas.openxmlformats.org/officeDocument/2006/relationships/hyperlink" Target="https://www.swiggy.com/" TargetMode="External" /><Relationship Id="rId2" Type="http://schemas.openxmlformats.org/officeDocument/2006/relationships/hyperlink" Target="https://www.zomato.com/" TargetMode="External" /><Relationship Id="rId1" Type="http://schemas.openxmlformats.org/officeDocument/2006/relationships/slideLayout" Target="../slideLayouts/slideLayout2.xml" /><Relationship Id="rId6" Type="http://schemas.openxmlformats.org/officeDocument/2006/relationships/hyperlink" Target="https://www.foodpanda.com/" TargetMode="External" /><Relationship Id="rId5" Type="http://schemas.openxmlformats.org/officeDocument/2006/relationships/hyperlink" Target="https://www.dominos.co.in/" TargetMode="External" /><Relationship Id="rId4" Type="http://schemas.openxmlformats.org/officeDocument/2006/relationships/hyperlink" Target="https://www.ubereats.com/"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2910" y="2071678"/>
            <a:ext cx="7772400" cy="1071570"/>
          </a:xfrm>
        </p:spPr>
        <p:txBody>
          <a:bodyPr>
            <a:noAutofit/>
          </a:bodyPr>
          <a:lstStyle/>
          <a:p>
            <a:r>
              <a:rPr lang="en-US" sz="3600" dirty="0"/>
              <a:t>ONLINE FOOD ORDERING SYSTEM UNDER E-COMMERCE</a:t>
            </a:r>
          </a:p>
        </p:txBody>
      </p:sp>
      <p:sp>
        <p:nvSpPr>
          <p:cNvPr id="3" name="Subtitle 2"/>
          <p:cNvSpPr>
            <a:spLocks noGrp="1"/>
          </p:cNvSpPr>
          <p:nvPr>
            <p:ph type="subTitle" idx="1"/>
          </p:nvPr>
        </p:nvSpPr>
        <p:spPr>
          <a:xfrm>
            <a:off x="357158" y="3429000"/>
            <a:ext cx="4643470" cy="2000264"/>
          </a:xfrm>
        </p:spPr>
        <p:txBody>
          <a:bodyPr>
            <a:normAutofit/>
          </a:bodyPr>
          <a:lstStyle/>
          <a:p>
            <a:r>
              <a:rPr lang="en-US" sz="2800" b="1" dirty="0">
                <a:solidFill>
                  <a:schemeClr val="tx1"/>
                </a:solidFill>
              </a:rPr>
              <a:t>By</a:t>
            </a:r>
          </a:p>
          <a:p>
            <a:r>
              <a:rPr lang="en-US" sz="2400" dirty="0" err="1">
                <a:solidFill>
                  <a:schemeClr val="tx1"/>
                </a:solidFill>
                <a:latin typeface="Times New Roman" pitchFamily="18" charset="0"/>
                <a:cs typeface="Times New Roman" pitchFamily="18" charset="0"/>
              </a:rPr>
              <a:t>B.Pavan</a:t>
            </a:r>
            <a:r>
              <a:rPr lang="en-US" sz="2400" dirty="0">
                <a:solidFill>
                  <a:schemeClr val="tx1"/>
                </a:solidFill>
                <a:latin typeface="Times New Roman" pitchFamily="18" charset="0"/>
                <a:cs typeface="Times New Roman" pitchFamily="18" charset="0"/>
              </a:rPr>
              <a:t>  –  237Z1A0511     </a:t>
            </a:r>
            <a:r>
              <a:rPr lang="en-US" sz="2400" dirty="0" err="1">
                <a:solidFill>
                  <a:schemeClr val="tx1"/>
                </a:solidFill>
                <a:latin typeface="Times New Roman" pitchFamily="18" charset="0"/>
                <a:cs typeface="Times New Roman" pitchFamily="18" charset="0"/>
              </a:rPr>
              <a:t>J.Charan</a:t>
            </a:r>
            <a:r>
              <a:rPr lang="en-US" sz="2400" dirty="0">
                <a:solidFill>
                  <a:schemeClr val="tx1"/>
                </a:solidFill>
                <a:latin typeface="Times New Roman" pitchFamily="18" charset="0"/>
                <a:cs typeface="Times New Roman" pitchFamily="18" charset="0"/>
              </a:rPr>
              <a:t> –  237Z1A0563</a:t>
            </a:r>
          </a:p>
          <a:p>
            <a:r>
              <a:rPr lang="en-US" sz="2400" dirty="0" err="1">
                <a:solidFill>
                  <a:schemeClr val="tx1"/>
                </a:solidFill>
                <a:latin typeface="Times New Roman" pitchFamily="18" charset="0"/>
                <a:cs typeface="Times New Roman" pitchFamily="18" charset="0"/>
              </a:rPr>
              <a:t>B.Nithil</a:t>
            </a:r>
            <a:r>
              <a:rPr lang="en-US" sz="2400" dirty="0">
                <a:solidFill>
                  <a:schemeClr val="tx1"/>
                </a:solidFill>
                <a:latin typeface="Times New Roman" pitchFamily="18" charset="0"/>
                <a:cs typeface="Times New Roman" pitchFamily="18" charset="0"/>
              </a:rPr>
              <a:t>  –  237Z1A0525</a:t>
            </a:r>
          </a:p>
          <a:p>
            <a:endParaRPr lang="en-US" sz="2800" dirty="0">
              <a:solidFill>
                <a:schemeClr val="tx1"/>
              </a:solidFill>
            </a:endParaRPr>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1" descr="nnrg header logo"/>
          <p:cNvPicPr>
            <a:picLocks noChangeAspect="1" noChangeArrowheads="1"/>
          </p:cNvPicPr>
          <p:nvPr/>
        </p:nvPicPr>
        <p:blipFill>
          <a:blip r:embed="rId2"/>
          <a:srcRect/>
          <a:stretch>
            <a:fillRect/>
          </a:stretch>
        </p:blipFill>
        <p:spPr bwMode="auto">
          <a:xfrm>
            <a:off x="714348" y="214290"/>
            <a:ext cx="7786742" cy="1285884"/>
          </a:xfrm>
          <a:prstGeom prst="rect">
            <a:avLst/>
          </a:prstGeom>
          <a:noFill/>
        </p:spPr>
      </p:pic>
      <p:sp>
        <p:nvSpPr>
          <p:cNvPr id="1027" name="Rectangle 3"/>
          <p:cNvSpPr>
            <a:spLocks noChangeArrowheads="1"/>
          </p:cNvSpPr>
          <p:nvPr/>
        </p:nvSpPr>
        <p:spPr bwMode="auto">
          <a:xfrm>
            <a:off x="1643042" y="1357298"/>
            <a:ext cx="5204565" cy="738664"/>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spcBef>
                <a:spcPct val="0"/>
              </a:spcBef>
              <a:spcAft>
                <a:spcPct val="0"/>
              </a:spcAft>
              <a:buClrTx/>
              <a:buSzTx/>
              <a:buFontTx/>
              <a:buNone/>
              <a:tabLst>
                <a:tab pos="2865438" algn="ctr"/>
                <a:tab pos="5730875" algn="r"/>
              </a:tabLst>
            </a:pPr>
            <a:r>
              <a:rPr kumimoji="0" lang="en-US" sz="1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SCHOOL OF ENGINEERING</a:t>
            </a:r>
          </a:p>
          <a:p>
            <a:pPr marL="0" marR="0" lvl="0" indent="0" algn="ctr" defTabSz="914400" rtl="0" eaLnBrk="1" fontAlgn="base" latinLnBrk="0" hangingPunct="1">
              <a:spcBef>
                <a:spcPct val="0"/>
              </a:spcBef>
              <a:spcAft>
                <a:spcPct val="0"/>
              </a:spcAft>
              <a:buClrTx/>
              <a:buSzTx/>
              <a:buFontTx/>
              <a:buNone/>
              <a:tabLst>
                <a:tab pos="2865438" algn="ctr"/>
                <a:tab pos="5730875" algn="r"/>
              </a:tabLst>
            </a:pPr>
            <a:endParaRPr kumimoji="0" lang="en-US" sz="1400" b="0" i="0" u="none" strike="noStrike" cap="none" normalizeH="0" baseline="0" dirty="0">
              <a:ln>
                <a:noFill/>
              </a:ln>
              <a:solidFill>
                <a:schemeClr val="tx1"/>
              </a:solidFill>
              <a:effectLst/>
              <a:latin typeface="Arial" pitchFamily="34" charset="0"/>
              <a:cs typeface="Arial" pitchFamily="34" charset="0"/>
            </a:endParaRPr>
          </a:p>
          <a:p>
            <a:pPr marL="0" marR="0" lvl="0" indent="0" algn="ctr" defTabSz="914400" rtl="0" eaLnBrk="0" fontAlgn="base" latinLnBrk="0" hangingPunct="0">
              <a:spcBef>
                <a:spcPct val="0"/>
              </a:spcBef>
              <a:spcAft>
                <a:spcPct val="0"/>
              </a:spcAft>
              <a:buClrTx/>
              <a:buSzTx/>
              <a:buFontTx/>
              <a:buNone/>
              <a:tabLst>
                <a:tab pos="2865438" algn="ctr"/>
                <a:tab pos="5730875" algn="r"/>
              </a:tabLst>
            </a:pPr>
            <a:r>
              <a:rPr kumimoji="0" lang="en-US" sz="1400" b="1" i="0" strike="noStrike" cap="none" normalizeH="0" baseline="0" dirty="0">
                <a:ln>
                  <a:noFill/>
                </a:ln>
                <a:solidFill>
                  <a:schemeClr val="tx1"/>
                </a:solidFill>
                <a:effectLst/>
                <a:latin typeface="Times New Roman" pitchFamily="18" charset="0"/>
                <a:ea typeface="Calibri" pitchFamily="34" charset="0"/>
                <a:cs typeface="Times New Roman" pitchFamily="18" charset="0"/>
              </a:rPr>
              <a:t>DEPARTMENT OF COMPUTER SCIENCE &amp; ENGINEERING</a:t>
            </a:r>
            <a:endParaRPr kumimoji="0" lang="en-US" sz="1800" b="0" i="0" strike="noStrike" cap="none" normalizeH="0" baseline="0" dirty="0">
              <a:ln>
                <a:noFill/>
              </a:ln>
              <a:solidFill>
                <a:schemeClr val="tx1"/>
              </a:solidFill>
              <a:effectLst/>
              <a:latin typeface="Arial" pitchFamily="34" charset="0"/>
              <a:cs typeface="Arial" pitchFamily="34" charset="0"/>
            </a:endParaRPr>
          </a:p>
        </p:txBody>
      </p:sp>
      <p:sp>
        <p:nvSpPr>
          <p:cNvPr id="7" name="Subtitle 2"/>
          <p:cNvSpPr txBox="1">
            <a:spLocks/>
          </p:cNvSpPr>
          <p:nvPr/>
        </p:nvSpPr>
        <p:spPr>
          <a:xfrm>
            <a:off x="4929158" y="5072074"/>
            <a:ext cx="4214842" cy="1214446"/>
          </a:xfrm>
          <a:prstGeom prst="rect">
            <a:avLst/>
          </a:prstGeom>
        </p:spPr>
        <p:txBody>
          <a:bodyPr vert="horz" lIns="91440" tIns="45720" rIns="91440" bIns="45720" rtlCol="0">
            <a:normAutofit fontScale="92500" lnSpcReduction="1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1" i="0" u="none" strike="noStrike" kern="1200" cap="none" spc="0" normalizeH="0" baseline="0" noProof="0" dirty="0">
                <a:ln>
                  <a:noFill/>
                </a:ln>
                <a:solidFill>
                  <a:schemeClr val="tx1"/>
                </a:solidFill>
                <a:effectLst/>
                <a:uLnTx/>
                <a:uFillTx/>
                <a:latin typeface="+mn-lt"/>
                <a:ea typeface="+mn-ea"/>
                <a:cs typeface="+mn-cs"/>
              </a:rPr>
              <a:t>Under</a:t>
            </a:r>
            <a:r>
              <a:rPr kumimoji="0" lang="en-US" sz="2800" b="1" i="0" u="none" strike="noStrike" kern="1200" cap="none" spc="0" normalizeH="0" noProof="0" dirty="0">
                <a:ln>
                  <a:noFill/>
                </a:ln>
                <a:solidFill>
                  <a:schemeClr val="tx1"/>
                </a:solidFill>
                <a:effectLst/>
                <a:uLnTx/>
                <a:uFillTx/>
                <a:latin typeface="+mn-lt"/>
                <a:ea typeface="+mn-ea"/>
                <a:cs typeface="+mn-cs"/>
              </a:rPr>
              <a:t> the Guidance of</a:t>
            </a:r>
            <a:endParaRPr kumimoji="0" lang="en-US" sz="28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err="1">
                <a:latin typeface="Times New Roman" pitchFamily="18" charset="0"/>
                <a:cs typeface="Times New Roman" pitchFamily="18" charset="0"/>
              </a:rPr>
              <a:t>Mr.CH.Ravi</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Assistant</a:t>
            </a:r>
            <a:r>
              <a:rPr kumimoji="0" lang="en-US" sz="2400" b="0" i="0" u="none" strike="noStrike" kern="1200" cap="none" spc="0" normalizeH="0" noProof="0" dirty="0">
                <a:ln>
                  <a:noFill/>
                </a:ln>
                <a:solidFill>
                  <a:schemeClr val="tx1"/>
                </a:solidFill>
                <a:effectLst/>
                <a:uLnTx/>
                <a:uFillTx/>
                <a:latin typeface="Times New Roman" pitchFamily="18" charset="0"/>
                <a:ea typeface="+mn-ea"/>
                <a:cs typeface="Times New Roman" pitchFamily="18" charset="0"/>
              </a:rPr>
              <a:t> Professor</a:t>
            </a:r>
            <a:endParaRPr kumimoji="0" lang="en-US"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CONTENTS</a:t>
            </a:r>
          </a:p>
        </p:txBody>
      </p:sp>
      <p:sp>
        <p:nvSpPr>
          <p:cNvPr id="3" name="Content Placeholder 2"/>
          <p:cNvSpPr>
            <a:spLocks noGrp="1"/>
          </p:cNvSpPr>
          <p:nvPr>
            <p:ph idx="1"/>
          </p:nvPr>
        </p:nvSpPr>
        <p:spPr>
          <a:xfrm>
            <a:off x="642910" y="1357298"/>
            <a:ext cx="7972452" cy="4686320"/>
          </a:xfrm>
        </p:spPr>
        <p:txBody>
          <a:bodyPr>
            <a:normAutofit fontScale="62500" lnSpcReduction="20000"/>
          </a:bodyPr>
          <a:lstStyle/>
          <a:p>
            <a:r>
              <a:rPr lang="en-US" sz="3600" dirty="0"/>
              <a:t>  Abstract</a:t>
            </a:r>
          </a:p>
          <a:p>
            <a:r>
              <a:rPr lang="en-US" sz="3600" dirty="0"/>
              <a:t>  Problem Statement</a:t>
            </a:r>
          </a:p>
          <a:p>
            <a:r>
              <a:rPr lang="en-US" sz="3600" dirty="0"/>
              <a:t>  Literature Survey</a:t>
            </a:r>
          </a:p>
          <a:p>
            <a:r>
              <a:rPr lang="en-US" sz="3600" dirty="0"/>
              <a:t>  Existing System</a:t>
            </a:r>
          </a:p>
          <a:p>
            <a:r>
              <a:rPr lang="en-US" sz="3600" dirty="0"/>
              <a:t>  Proposed System</a:t>
            </a:r>
          </a:p>
          <a:p>
            <a:r>
              <a:rPr lang="en-US" sz="3600" dirty="0"/>
              <a:t>  System Architecture</a:t>
            </a:r>
          </a:p>
          <a:p>
            <a:r>
              <a:rPr lang="en-US" sz="3600" dirty="0"/>
              <a:t>  Software and Hardware Requirements</a:t>
            </a:r>
          </a:p>
          <a:p>
            <a:r>
              <a:rPr lang="en-US" sz="3600" dirty="0"/>
              <a:t>  Modules</a:t>
            </a:r>
          </a:p>
          <a:p>
            <a:r>
              <a:rPr lang="en-US" sz="3600" dirty="0"/>
              <a:t>  System Design (UML Diagrams)</a:t>
            </a:r>
          </a:p>
          <a:p>
            <a:r>
              <a:rPr lang="en-US" sz="3600" dirty="0"/>
              <a:t>  Output Screenshots</a:t>
            </a:r>
          </a:p>
          <a:p>
            <a:r>
              <a:rPr lang="en-US" sz="3600" dirty="0"/>
              <a:t>  Conclusion</a:t>
            </a:r>
          </a:p>
          <a:p>
            <a:r>
              <a:rPr lang="en-US" sz="3600" dirty="0"/>
              <a:t>  Future Enhancement</a:t>
            </a:r>
          </a:p>
          <a:p>
            <a:r>
              <a:rPr lang="en-US" sz="3600" dirty="0"/>
              <a:t>  References</a:t>
            </a:r>
            <a:endParaRPr lang="en-US" sz="2600" dirty="0"/>
          </a:p>
          <a:p>
            <a:pPr>
              <a:buNone/>
            </a:pPr>
            <a:endParaRPr lang="en-US" sz="2600" dirty="0"/>
          </a:p>
          <a:p>
            <a:pPr>
              <a:buNone/>
            </a:pPr>
            <a:endParaRPr lang="en-US" dirty="0"/>
          </a:p>
          <a:p>
            <a:endParaRPr lang="en-US" dirty="0"/>
          </a:p>
        </p:txBody>
      </p:sp>
      <p:pic>
        <p:nvPicPr>
          <p:cNvPr id="4" name="Picture 3">
            <a:extLst>
              <a:ext uri="{FF2B5EF4-FFF2-40B4-BE49-F238E27FC236}">
                <a16:creationId xmlns:a16="http://schemas.microsoft.com/office/drawing/2014/main" id="{E5C0C667-6434-19A4-899C-A9E0C58BE1DA}"/>
              </a:ext>
            </a:extLst>
          </p:cNvPr>
          <p:cNvPicPr>
            <a:picLocks noChangeAspect="1"/>
          </p:cNvPicPr>
          <p:nvPr/>
        </p:nvPicPr>
        <p:blipFill>
          <a:blip r:embed="rId2"/>
          <a:stretch>
            <a:fillRect/>
          </a:stretch>
        </p:blipFill>
        <p:spPr>
          <a:xfrm>
            <a:off x="8100392" y="92076"/>
            <a:ext cx="816935" cy="9510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6646"/>
            <a:ext cx="8229600" cy="1143000"/>
          </a:xfrm>
        </p:spPr>
        <p:txBody>
          <a:bodyPr>
            <a:normAutofit/>
          </a:bodyPr>
          <a:lstStyle/>
          <a:p>
            <a:r>
              <a:rPr lang="en-US" dirty="0"/>
              <a:t>Abstract</a:t>
            </a:r>
          </a:p>
        </p:txBody>
      </p:sp>
      <p:sp>
        <p:nvSpPr>
          <p:cNvPr id="3" name="Content Placeholder 2"/>
          <p:cNvSpPr>
            <a:spLocks noGrp="1"/>
          </p:cNvSpPr>
          <p:nvPr>
            <p:ph idx="1"/>
          </p:nvPr>
        </p:nvSpPr>
        <p:spPr>
          <a:xfrm>
            <a:off x="428596" y="1412278"/>
            <a:ext cx="8258204" cy="5043509"/>
          </a:xfrm>
        </p:spPr>
        <p:txBody>
          <a:bodyPr>
            <a:normAutofit fontScale="62500" lnSpcReduction="20000"/>
          </a:bodyPr>
          <a:lstStyle/>
          <a:p>
            <a:pPr algn="just">
              <a:buNone/>
            </a:pPr>
            <a:r>
              <a:rPr lang="en-GB" dirty="0"/>
              <a:t>      The rapid growth of internet and digital technologies has significantly influenced modern business practices, especially in the field of electronic commerce. This mini project focuses on the design and development of an Online Ordering System under an E- Commerce Website that enables customers to conveniently browse products, place orders, and complete purchases through an online platform. The system provides core functionalities such as user registration and authentication, product </a:t>
            </a:r>
            <a:r>
              <a:rPr lang="en-GB" dirty="0" err="1"/>
              <a:t>catalog</a:t>
            </a:r>
            <a:r>
              <a:rPr lang="en-GB" dirty="0"/>
              <a:t> display, shopping cart management, order processing, and secure online payment. An administrative module is also included to manage product details, monitor customer orders, and update order status efficiently. By automating the ordering process, the system reduces manual effort, minimizes errors, and improves overall operational efficiency. The user-friendly interface enhances customer experience and accessibility, while real-time order management ensures timely and accurate service. This project demonstrates the practical application of e-commerce concepts and offers a scalable solution suitable for small to medium-sized online businesses in today’s competitive digital marketplace. </a:t>
            </a:r>
          </a:p>
          <a:p>
            <a:pPr algn="just">
              <a:buNone/>
            </a:pPr>
            <a:r>
              <a:rPr lang="en-GB" dirty="0"/>
              <a:t>      </a:t>
            </a:r>
            <a:r>
              <a:rPr lang="en-GB" b="1" dirty="0"/>
              <a:t>Keywords</a:t>
            </a:r>
            <a:r>
              <a:rPr lang="en-GB" dirty="0"/>
              <a:t>—: Admin Management System, User Authentication, Product </a:t>
            </a:r>
            <a:r>
              <a:rPr lang="en-GB" dirty="0" err="1"/>
              <a:t>Catalog</a:t>
            </a:r>
            <a:r>
              <a:rPr lang="en-GB" dirty="0"/>
              <a:t> Shopping Cart</a:t>
            </a:r>
            <a:endParaRPr lang="en-US" dirty="0"/>
          </a:p>
        </p:txBody>
      </p:sp>
      <p:pic>
        <p:nvPicPr>
          <p:cNvPr id="6" name="Picture 5">
            <a:extLst>
              <a:ext uri="{FF2B5EF4-FFF2-40B4-BE49-F238E27FC236}">
                <a16:creationId xmlns:a16="http://schemas.microsoft.com/office/drawing/2014/main" id="{E5C0C667-6434-19A4-899C-A9E0C58BE1DA}"/>
              </a:ext>
            </a:extLst>
          </p:cNvPr>
          <p:cNvPicPr>
            <a:picLocks noChangeAspect="1"/>
          </p:cNvPicPr>
          <p:nvPr/>
        </p:nvPicPr>
        <p:blipFill>
          <a:blip r:embed="rId2"/>
          <a:stretch>
            <a:fillRect/>
          </a:stretch>
        </p:blipFill>
        <p:spPr>
          <a:xfrm>
            <a:off x="8100392" y="92076"/>
            <a:ext cx="816935" cy="95105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Problem Statement </a:t>
            </a:r>
          </a:p>
        </p:txBody>
      </p:sp>
      <p:sp>
        <p:nvSpPr>
          <p:cNvPr id="3" name="Content Placeholder 2"/>
          <p:cNvSpPr>
            <a:spLocks noGrp="1"/>
          </p:cNvSpPr>
          <p:nvPr>
            <p:ph idx="1"/>
          </p:nvPr>
        </p:nvSpPr>
        <p:spPr>
          <a:xfrm>
            <a:off x="457200" y="1446486"/>
            <a:ext cx="8229600" cy="4525963"/>
          </a:xfrm>
        </p:spPr>
        <p:txBody>
          <a:bodyPr>
            <a:normAutofit/>
          </a:bodyPr>
          <a:lstStyle/>
          <a:p>
            <a:pPr marL="0" marR="5080" indent="0" algn="just">
              <a:lnSpc>
                <a:spcPct val="150000"/>
              </a:lnSpc>
              <a:spcBef>
                <a:spcPts val="100"/>
              </a:spcBef>
              <a:buNone/>
              <a:tabLst>
                <a:tab pos="355591" algn="l"/>
              </a:tabLst>
            </a:pPr>
            <a:r>
              <a:rPr lang="en-GB" sz="2000" dirty="0"/>
              <a:t>Existing online ordering systems lack proper automation, leading to inefficiencies, delays, errors, poor customer experience, and limited real-time administrative control.</a:t>
            </a:r>
            <a:endParaRPr lang="en-GB" sz="2000" dirty="0">
              <a:latin typeface="Times New Roman"/>
              <a:cs typeface="Times New Roman"/>
            </a:endParaRPr>
          </a:p>
        </p:txBody>
      </p:sp>
    </p:spTree>
    <p:extLst>
      <p:ext uri="{BB962C8B-B14F-4D97-AF65-F5344CB8AC3E}">
        <p14:creationId xmlns:p14="http://schemas.microsoft.com/office/powerpoint/2010/main" val="3319411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Survey</a:t>
            </a:r>
          </a:p>
        </p:txBody>
      </p:sp>
      <p:pic>
        <p:nvPicPr>
          <p:cNvPr id="4" name="Content Placeholder 3">
            <a:extLst>
              <a:ext uri="{FF2B5EF4-FFF2-40B4-BE49-F238E27FC236}">
                <a16:creationId xmlns:a16="http://schemas.microsoft.com/office/drawing/2014/main" id="{5F425E8F-E604-EAFC-8E6C-7BF00670D3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0161" y="1628800"/>
            <a:ext cx="8229600" cy="4141589"/>
          </a:xfrm>
          <a:prstGeom prst="rect">
            <a:avLst/>
          </a:prstGeom>
        </p:spPr>
      </p:pic>
    </p:spTree>
    <p:extLst>
      <p:ext uri="{BB962C8B-B14F-4D97-AF65-F5344CB8AC3E}">
        <p14:creationId xmlns:p14="http://schemas.microsoft.com/office/powerpoint/2010/main" val="2974821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Existing System</a:t>
            </a:r>
          </a:p>
        </p:txBody>
      </p:sp>
      <p:sp>
        <p:nvSpPr>
          <p:cNvPr id="4" name="Text Placeholder 2">
            <a:extLst>
              <a:ext uri="{FF2B5EF4-FFF2-40B4-BE49-F238E27FC236}">
                <a16:creationId xmlns:a16="http://schemas.microsoft.com/office/drawing/2014/main" id="{2949938D-0C32-9A32-CF15-D38D33EDEF31}"/>
              </a:ext>
            </a:extLst>
          </p:cNvPr>
          <p:cNvSpPr>
            <a:spLocks noGrp="1"/>
          </p:cNvSpPr>
          <p:nvPr>
            <p:ph idx="1"/>
          </p:nvPr>
        </p:nvSpPr>
        <p:spPr/>
        <p:txBody>
          <a:bodyPr>
            <a:normAutofit/>
          </a:bodyPr>
          <a:lstStyle/>
          <a:p>
            <a:pPr marL="285750" indent="-285750" algn="just">
              <a:buFont typeface="Arial" panose="020B0604020202020204" pitchFamily="34" charset="0"/>
              <a:buChar char="•"/>
            </a:pPr>
            <a:r>
              <a:rPr lang="en-US" sz="2200" dirty="0"/>
              <a:t>Manual or phone-based order processing</a:t>
            </a:r>
          </a:p>
          <a:p>
            <a:pPr marL="285750" indent="-285750" algn="just">
              <a:buFont typeface="Arial" panose="020B0604020202020204" pitchFamily="34" charset="0"/>
              <a:buChar char="•"/>
            </a:pPr>
            <a:endParaRPr lang="en-US" sz="2200" dirty="0"/>
          </a:p>
          <a:p>
            <a:pPr marL="285750" indent="-285750" algn="just">
              <a:buFont typeface="Arial" panose="020B0604020202020204" pitchFamily="34" charset="0"/>
              <a:buChar char="•"/>
            </a:pPr>
            <a:r>
              <a:rPr lang="en-US" sz="2200" dirty="0"/>
              <a:t>Time-consuming and inefficient operations</a:t>
            </a:r>
          </a:p>
          <a:p>
            <a:pPr marL="0" indent="0" algn="just">
              <a:buNone/>
            </a:pPr>
            <a:endParaRPr lang="en-US" sz="2200" dirty="0"/>
          </a:p>
          <a:p>
            <a:pPr marL="285750" indent="-285750" algn="just">
              <a:buFont typeface="Arial" panose="020B0604020202020204" pitchFamily="34" charset="0"/>
              <a:buChar char="•"/>
            </a:pPr>
            <a:r>
              <a:rPr lang="en-US" sz="2200" dirty="0"/>
              <a:t>Difficult menu and order management</a:t>
            </a:r>
          </a:p>
          <a:p>
            <a:pPr marL="285750" indent="-285750" algn="just">
              <a:buFont typeface="Arial" panose="020B0604020202020204" pitchFamily="34" charset="0"/>
              <a:buChar char="•"/>
            </a:pPr>
            <a:endParaRPr lang="en-US" sz="2200" dirty="0"/>
          </a:p>
          <a:p>
            <a:pPr marL="285750" indent="-285750" algn="just">
              <a:buFont typeface="Arial" panose="020B0604020202020204" pitchFamily="34" charset="0"/>
              <a:buChar char="•"/>
            </a:pPr>
            <a:r>
              <a:rPr lang="en-US" sz="2200" dirty="0"/>
              <a:t>High dependency on human intervention</a:t>
            </a:r>
          </a:p>
          <a:p>
            <a:endParaRPr lang="en-IN" dirty="0"/>
          </a:p>
        </p:txBody>
      </p:sp>
    </p:spTree>
    <p:extLst>
      <p:ext uri="{BB962C8B-B14F-4D97-AF65-F5344CB8AC3E}">
        <p14:creationId xmlns:p14="http://schemas.microsoft.com/office/powerpoint/2010/main" val="1052798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System</a:t>
            </a:r>
          </a:p>
        </p:txBody>
      </p:sp>
      <p:sp>
        <p:nvSpPr>
          <p:cNvPr id="4" name="Text Placeholder 2">
            <a:extLst>
              <a:ext uri="{FF2B5EF4-FFF2-40B4-BE49-F238E27FC236}">
                <a16:creationId xmlns:a16="http://schemas.microsoft.com/office/drawing/2014/main" id="{2949938D-0C32-9A32-CF15-D38D33EDEF31}"/>
              </a:ext>
            </a:extLst>
          </p:cNvPr>
          <p:cNvSpPr>
            <a:spLocks noGrp="1"/>
          </p:cNvSpPr>
          <p:nvPr>
            <p:ph idx="1"/>
          </p:nvPr>
        </p:nvSpPr>
        <p:spPr/>
        <p:txBody>
          <a:bodyPr>
            <a:normAutofit fontScale="92500"/>
          </a:bodyPr>
          <a:lstStyle/>
          <a:p>
            <a:pPr algn="just" eaLnBrk="0" fontAlgn="base" hangingPunct="0">
              <a:spcBef>
                <a:spcPct val="0"/>
              </a:spcBef>
              <a:spcAft>
                <a:spcPct val="0"/>
              </a:spcAft>
            </a:pPr>
            <a:r>
              <a:rPr lang="en-US" altLang="en-US" sz="2200" dirty="0">
                <a:latin typeface="Arial" panose="020B0604020202020204" pitchFamily="34" charset="0"/>
              </a:rPr>
              <a:t>Provide secure user registration and authentication for customers.</a:t>
            </a:r>
          </a:p>
          <a:p>
            <a:pPr marL="0" lvl="0" indent="0" algn="just" eaLnBrk="0" fontAlgn="base" hangingPunct="0">
              <a:spcBef>
                <a:spcPct val="0"/>
              </a:spcBef>
              <a:spcAft>
                <a:spcPct val="0"/>
              </a:spcAft>
            </a:pPr>
            <a:endParaRPr lang="en-US" altLang="en-US" sz="2200" dirty="0">
              <a:latin typeface="Arial" panose="020B0604020202020204" pitchFamily="34" charset="0"/>
            </a:endParaRPr>
          </a:p>
          <a:p>
            <a:pPr algn="just" eaLnBrk="0" fontAlgn="base" hangingPunct="0">
              <a:spcBef>
                <a:spcPct val="0"/>
              </a:spcBef>
              <a:spcAft>
                <a:spcPct val="0"/>
              </a:spcAft>
            </a:pPr>
            <a:r>
              <a:rPr lang="en-US" altLang="en-US" sz="2200" dirty="0">
                <a:latin typeface="Arial" panose="020B0604020202020204" pitchFamily="34" charset="0"/>
              </a:rPr>
              <a:t>Enable product catalog display for easy browsing and selection of products.</a:t>
            </a:r>
          </a:p>
          <a:p>
            <a:pPr marL="0" lvl="0" indent="0" algn="just" eaLnBrk="0" fontAlgn="base" hangingPunct="0">
              <a:spcBef>
                <a:spcPct val="0"/>
              </a:spcBef>
              <a:spcAft>
                <a:spcPct val="0"/>
              </a:spcAft>
            </a:pPr>
            <a:endParaRPr lang="en-US" altLang="en-US" sz="2200" dirty="0">
              <a:latin typeface="Arial" panose="020B0604020202020204" pitchFamily="34" charset="0"/>
            </a:endParaRPr>
          </a:p>
          <a:p>
            <a:pPr algn="just" eaLnBrk="0" fontAlgn="base" hangingPunct="0">
              <a:spcBef>
                <a:spcPct val="0"/>
              </a:spcBef>
              <a:spcAft>
                <a:spcPct val="0"/>
              </a:spcAft>
            </a:pPr>
            <a:r>
              <a:rPr lang="en-US" altLang="en-US" sz="2200" dirty="0">
                <a:latin typeface="Arial" panose="020B0604020202020204" pitchFamily="34" charset="0"/>
              </a:rPr>
              <a:t>Implement shopping cart functionality and order placement process.</a:t>
            </a:r>
          </a:p>
          <a:p>
            <a:pPr marL="0" lvl="0" indent="0" algn="just" eaLnBrk="0" fontAlgn="base" hangingPunct="0">
              <a:spcBef>
                <a:spcPct val="0"/>
              </a:spcBef>
              <a:spcAft>
                <a:spcPct val="0"/>
              </a:spcAft>
            </a:pPr>
            <a:endParaRPr lang="en-US" altLang="en-US" sz="2200" dirty="0">
              <a:latin typeface="Arial" panose="020B0604020202020204" pitchFamily="34" charset="0"/>
            </a:endParaRPr>
          </a:p>
          <a:p>
            <a:pPr algn="just" eaLnBrk="0" fontAlgn="base" hangingPunct="0">
              <a:spcBef>
                <a:spcPct val="0"/>
              </a:spcBef>
              <a:spcAft>
                <a:spcPct val="0"/>
              </a:spcAft>
            </a:pPr>
            <a:r>
              <a:rPr lang="en-US" altLang="en-US" sz="2200" dirty="0">
                <a:latin typeface="Arial" panose="020B0604020202020204" pitchFamily="34" charset="0"/>
              </a:rPr>
              <a:t>Support secure order processing with online payment options.</a:t>
            </a:r>
          </a:p>
          <a:p>
            <a:pPr marL="0" lvl="0" indent="0" algn="just" eaLnBrk="0" fontAlgn="base" hangingPunct="0">
              <a:spcBef>
                <a:spcPct val="0"/>
              </a:spcBef>
              <a:spcAft>
                <a:spcPct val="0"/>
              </a:spcAft>
            </a:pPr>
            <a:endParaRPr lang="en-US" altLang="en-US" sz="2200" dirty="0">
              <a:latin typeface="Arial" panose="020B0604020202020204" pitchFamily="34" charset="0"/>
            </a:endParaRPr>
          </a:p>
          <a:p>
            <a:pPr algn="just" eaLnBrk="0" fontAlgn="base" hangingPunct="0">
              <a:spcBef>
                <a:spcPct val="0"/>
              </a:spcBef>
              <a:spcAft>
                <a:spcPct val="0"/>
              </a:spcAft>
            </a:pPr>
            <a:r>
              <a:rPr lang="en-US" altLang="en-US" sz="2200" dirty="0">
                <a:latin typeface="Arial" panose="020B0604020202020204" pitchFamily="34" charset="0"/>
              </a:rPr>
              <a:t>Develop an administrative module for product management and order monitoring.</a:t>
            </a:r>
          </a:p>
          <a:p>
            <a:pPr marL="0" lvl="0" indent="0" algn="just" eaLnBrk="0" fontAlgn="base" hangingPunct="0">
              <a:spcBef>
                <a:spcPct val="0"/>
              </a:spcBef>
              <a:spcAft>
                <a:spcPct val="0"/>
              </a:spcAft>
            </a:pPr>
            <a:endParaRPr lang="en-US" altLang="en-US" sz="2200" dirty="0">
              <a:latin typeface="Arial" panose="020B0604020202020204" pitchFamily="34" charset="0"/>
            </a:endParaRPr>
          </a:p>
          <a:p>
            <a:pPr algn="just" eaLnBrk="0" fontAlgn="base" hangingPunct="0">
              <a:spcBef>
                <a:spcPct val="0"/>
              </a:spcBef>
              <a:spcAft>
                <a:spcPct val="0"/>
              </a:spcAft>
            </a:pPr>
            <a:r>
              <a:rPr lang="en-US" altLang="en-US" sz="2200" dirty="0">
                <a:latin typeface="Arial" panose="020B0604020202020204" pitchFamily="34" charset="0"/>
              </a:rPr>
              <a:t>Provide real-time order status updates to improve efficiency and user experience.</a:t>
            </a:r>
          </a:p>
          <a:p>
            <a:pPr marL="0" indent="0" algn="just">
              <a:buNone/>
            </a:pPr>
            <a:endParaRPr lang="en-US" dirty="0"/>
          </a:p>
          <a:p>
            <a:endParaRPr lang="en-IN" dirty="0"/>
          </a:p>
        </p:txBody>
      </p:sp>
    </p:spTree>
    <p:extLst>
      <p:ext uri="{BB962C8B-B14F-4D97-AF65-F5344CB8AC3E}">
        <p14:creationId xmlns:p14="http://schemas.microsoft.com/office/powerpoint/2010/main" val="3908719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System Architecture</a:t>
            </a:r>
          </a:p>
        </p:txBody>
      </p:sp>
      <p:pic>
        <p:nvPicPr>
          <p:cNvPr id="7" name="Content Placeholder 6">
            <a:extLst>
              <a:ext uri="{FF2B5EF4-FFF2-40B4-BE49-F238E27FC236}">
                <a16:creationId xmlns:a16="http://schemas.microsoft.com/office/drawing/2014/main" id="{A7670677-73DA-E58E-A059-81A82B533979}"/>
              </a:ext>
            </a:extLst>
          </p:cNvPr>
          <p:cNvPicPr>
            <a:picLocks noGrp="1" noChangeAspect="1"/>
          </p:cNvPicPr>
          <p:nvPr>
            <p:ph idx="1"/>
          </p:nvPr>
        </p:nvPicPr>
        <p:blipFill>
          <a:blip r:embed="rId2"/>
          <a:stretch>
            <a:fillRect/>
          </a:stretch>
        </p:blipFill>
        <p:spPr>
          <a:xfrm>
            <a:off x="3101212" y="1189703"/>
            <a:ext cx="2941575" cy="5668297"/>
          </a:xfrm>
          <a:prstGeom prst="rect">
            <a:avLst/>
          </a:prstGeom>
        </p:spPr>
      </p:pic>
    </p:spTree>
    <p:extLst>
      <p:ext uri="{BB962C8B-B14F-4D97-AF65-F5344CB8AC3E}">
        <p14:creationId xmlns:p14="http://schemas.microsoft.com/office/powerpoint/2010/main" val="1710092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Software and Hardware Requirements</a:t>
            </a:r>
            <a:endParaRPr lang="en-IN" dirty="0"/>
          </a:p>
        </p:txBody>
      </p:sp>
      <p:sp>
        <p:nvSpPr>
          <p:cNvPr id="3" name="Content Placeholder 2"/>
          <p:cNvSpPr>
            <a:spLocks noGrp="1"/>
          </p:cNvSpPr>
          <p:nvPr>
            <p:ph idx="1"/>
          </p:nvPr>
        </p:nvSpPr>
        <p:spPr/>
        <p:txBody>
          <a:bodyPr>
            <a:normAutofit fontScale="62500" lnSpcReduction="20000"/>
          </a:bodyPr>
          <a:lstStyle/>
          <a:p>
            <a:pPr marL="0" indent="0">
              <a:buNone/>
            </a:pPr>
            <a:r>
              <a:rPr lang="en-IN" sz="4500" b="1" dirty="0"/>
              <a:t>Software Requirements</a:t>
            </a:r>
          </a:p>
          <a:p>
            <a:pPr marL="0" indent="0" algn="ctr">
              <a:buNone/>
            </a:pPr>
            <a:endParaRPr lang="en-IN" sz="3400" b="1" dirty="0"/>
          </a:p>
          <a:p>
            <a:pPr marL="285750" indent="-285750" algn="just"/>
            <a:r>
              <a:rPr lang="en-IN" b="1" dirty="0"/>
              <a:t>Frontend </a:t>
            </a:r>
            <a:r>
              <a:rPr lang="en-IN" b="1" dirty="0" err="1"/>
              <a:t>Technologies:</a:t>
            </a:r>
            <a:r>
              <a:rPr lang="en-IN" dirty="0" err="1"/>
              <a:t>HTML</a:t>
            </a:r>
            <a:r>
              <a:rPr lang="en-IN" dirty="0"/>
              <a:t>, CSS, JavaScript</a:t>
            </a:r>
          </a:p>
          <a:p>
            <a:pPr marL="285750" indent="-285750" algn="just"/>
            <a:endParaRPr lang="en-IN" b="1" dirty="0"/>
          </a:p>
          <a:p>
            <a:pPr marL="285750" indent="-285750" algn="just"/>
            <a:r>
              <a:rPr lang="en-US" b="1" dirty="0"/>
              <a:t>Backend Technology:</a:t>
            </a:r>
            <a:r>
              <a:rPr lang="en-US" dirty="0"/>
              <a:t> Python (Django)</a:t>
            </a:r>
            <a:endParaRPr lang="en-US" b="1" dirty="0"/>
          </a:p>
          <a:p>
            <a:pPr marL="285750" indent="-285750" algn="just"/>
            <a:endParaRPr lang="en-US" b="1" dirty="0"/>
          </a:p>
          <a:p>
            <a:pPr marL="285750" indent="-285750" algn="just"/>
            <a:r>
              <a:rPr lang="en-IN" b="1" dirty="0"/>
              <a:t>Database:</a:t>
            </a:r>
            <a:r>
              <a:rPr lang="en-IN" dirty="0"/>
              <a:t> MySQL</a:t>
            </a:r>
          </a:p>
          <a:p>
            <a:pPr marL="285750" indent="-285750" algn="just"/>
            <a:endParaRPr lang="en-IN" b="1" dirty="0"/>
          </a:p>
          <a:p>
            <a:pPr marL="285750" indent="-285750" algn="just"/>
            <a:r>
              <a:rPr lang="en-IN" b="1" dirty="0"/>
              <a:t>Web Server:</a:t>
            </a:r>
            <a:r>
              <a:rPr lang="en-IN" dirty="0"/>
              <a:t> Apache</a:t>
            </a:r>
          </a:p>
          <a:p>
            <a:pPr marL="285750" indent="-285750" algn="just"/>
            <a:endParaRPr lang="en-IN" b="1" dirty="0"/>
          </a:p>
          <a:p>
            <a:pPr marL="285750" indent="-285750" algn="just"/>
            <a:r>
              <a:rPr lang="en-IN" b="1" dirty="0"/>
              <a:t>Development Tools:</a:t>
            </a:r>
            <a:r>
              <a:rPr lang="en-IN" dirty="0"/>
              <a:t> VS Code </a:t>
            </a:r>
          </a:p>
          <a:p>
            <a:pPr marL="285750" indent="-285750" algn="just"/>
            <a:endParaRPr lang="en-IN" b="1" dirty="0"/>
          </a:p>
          <a:p>
            <a:pPr marL="285750" indent="-285750" algn="just"/>
            <a:r>
              <a:rPr lang="en-IN" b="1" dirty="0"/>
              <a:t>Browser:</a:t>
            </a:r>
            <a:r>
              <a:rPr lang="en-IN" dirty="0"/>
              <a:t> Google Chrome</a:t>
            </a:r>
          </a:p>
          <a:p>
            <a:pPr marL="0" indent="0">
              <a:buNone/>
            </a:pPr>
            <a:r>
              <a:rPr lang="en-IN" b="1" dirty="0"/>
              <a:t>	</a:t>
            </a:r>
          </a:p>
        </p:txBody>
      </p:sp>
    </p:spTree>
    <p:extLst>
      <p:ext uri="{BB962C8B-B14F-4D97-AF65-F5344CB8AC3E}">
        <p14:creationId xmlns:p14="http://schemas.microsoft.com/office/powerpoint/2010/main" val="4103519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endParaRPr lang="en-IN" dirty="0"/>
          </a:p>
        </p:txBody>
      </p:sp>
      <p:sp>
        <p:nvSpPr>
          <p:cNvPr id="3" name="Content Placeholder 2"/>
          <p:cNvSpPr>
            <a:spLocks noGrp="1"/>
          </p:cNvSpPr>
          <p:nvPr>
            <p:ph idx="1"/>
          </p:nvPr>
        </p:nvSpPr>
        <p:spPr>
          <a:xfrm>
            <a:off x="457200" y="1052736"/>
            <a:ext cx="8229600" cy="4525963"/>
          </a:xfrm>
        </p:spPr>
        <p:txBody>
          <a:bodyPr>
            <a:normAutofit fontScale="85000" lnSpcReduction="20000"/>
          </a:bodyPr>
          <a:lstStyle/>
          <a:p>
            <a:pPr marL="0" indent="0">
              <a:buNone/>
            </a:pPr>
            <a:r>
              <a:rPr lang="en-IN" sz="3600" b="1" dirty="0"/>
              <a:t>Hardware</a:t>
            </a:r>
            <a:r>
              <a:rPr lang="en-IN" sz="3600" dirty="0"/>
              <a:t> </a:t>
            </a:r>
            <a:r>
              <a:rPr lang="en-IN" sz="3600" b="1" dirty="0"/>
              <a:t>Requirements</a:t>
            </a:r>
          </a:p>
          <a:p>
            <a:pPr marL="0" lvl="0" indent="0" algn="just" eaLnBrk="0" fontAlgn="base" hangingPunct="0">
              <a:spcBef>
                <a:spcPct val="0"/>
              </a:spcBef>
              <a:spcAft>
                <a:spcPct val="0"/>
              </a:spcAft>
              <a:buNone/>
            </a:pPr>
            <a:endParaRPr lang="en-IN" altLang="en-US" b="1" dirty="0"/>
          </a:p>
          <a:p>
            <a:pPr algn="just" eaLnBrk="0" fontAlgn="base" hangingPunct="0">
              <a:spcBef>
                <a:spcPct val="0"/>
              </a:spcBef>
              <a:spcAft>
                <a:spcPct val="0"/>
              </a:spcAft>
            </a:pPr>
            <a:r>
              <a:rPr lang="en-US" altLang="en-US" sz="2600" b="1" dirty="0"/>
              <a:t>Processor:</a:t>
            </a:r>
            <a:r>
              <a:rPr lang="en-US" altLang="en-US" sz="2600" dirty="0"/>
              <a:t> Intel Core i3 or higher</a:t>
            </a:r>
          </a:p>
          <a:p>
            <a:pPr marL="0" lvl="0" indent="0" algn="just" eaLnBrk="0" fontAlgn="base" hangingPunct="0">
              <a:spcBef>
                <a:spcPct val="0"/>
              </a:spcBef>
              <a:spcAft>
                <a:spcPct val="0"/>
              </a:spcAft>
            </a:pPr>
            <a:endParaRPr lang="en-US" altLang="en-US" sz="2600" dirty="0"/>
          </a:p>
          <a:p>
            <a:pPr algn="just" eaLnBrk="0" fontAlgn="base" hangingPunct="0">
              <a:spcBef>
                <a:spcPct val="0"/>
              </a:spcBef>
              <a:spcAft>
                <a:spcPct val="0"/>
              </a:spcAft>
            </a:pPr>
            <a:r>
              <a:rPr lang="en-US" altLang="en-US" sz="2600" b="1" dirty="0"/>
              <a:t>RAM:</a:t>
            </a:r>
            <a:r>
              <a:rPr lang="en-US" altLang="en-US" sz="2600" dirty="0"/>
              <a:t> Minimum 4 GB</a:t>
            </a:r>
          </a:p>
          <a:p>
            <a:pPr marL="0" lvl="0" indent="0" algn="just" eaLnBrk="0" fontAlgn="base" hangingPunct="0">
              <a:spcBef>
                <a:spcPct val="0"/>
              </a:spcBef>
              <a:spcAft>
                <a:spcPct val="0"/>
              </a:spcAft>
            </a:pPr>
            <a:endParaRPr lang="en-US" altLang="en-US" sz="2600" dirty="0"/>
          </a:p>
          <a:p>
            <a:pPr algn="just" eaLnBrk="0" fontAlgn="base" hangingPunct="0">
              <a:spcBef>
                <a:spcPct val="0"/>
              </a:spcBef>
              <a:spcAft>
                <a:spcPct val="0"/>
              </a:spcAft>
            </a:pPr>
            <a:r>
              <a:rPr lang="en-US" altLang="en-US" sz="2600" b="1" dirty="0"/>
              <a:t>Hard Disk:</a:t>
            </a:r>
            <a:r>
              <a:rPr lang="en-US" altLang="en-US" sz="2600" dirty="0"/>
              <a:t> 100 GB free space</a:t>
            </a:r>
          </a:p>
          <a:p>
            <a:pPr marL="0" lvl="0" indent="0" algn="just" eaLnBrk="0" fontAlgn="base" hangingPunct="0">
              <a:spcBef>
                <a:spcPct val="0"/>
              </a:spcBef>
              <a:spcAft>
                <a:spcPct val="0"/>
              </a:spcAft>
            </a:pPr>
            <a:endParaRPr lang="en-US" altLang="en-US" sz="2600" dirty="0"/>
          </a:p>
          <a:p>
            <a:pPr algn="just" eaLnBrk="0" fontAlgn="base" hangingPunct="0">
              <a:spcBef>
                <a:spcPct val="0"/>
              </a:spcBef>
              <a:spcAft>
                <a:spcPct val="0"/>
              </a:spcAft>
            </a:pPr>
            <a:r>
              <a:rPr lang="en-US" altLang="en-US" sz="2600" b="1" dirty="0"/>
              <a:t>System Type:</a:t>
            </a:r>
            <a:r>
              <a:rPr lang="en-US" altLang="en-US" sz="2600" dirty="0"/>
              <a:t> 64-bit architecture</a:t>
            </a:r>
          </a:p>
          <a:p>
            <a:pPr marL="0" lvl="0" indent="0" algn="just" eaLnBrk="0" fontAlgn="base" hangingPunct="0">
              <a:spcBef>
                <a:spcPct val="0"/>
              </a:spcBef>
              <a:spcAft>
                <a:spcPct val="0"/>
              </a:spcAft>
            </a:pPr>
            <a:endParaRPr lang="en-US" altLang="en-US" sz="2600" dirty="0"/>
          </a:p>
          <a:p>
            <a:pPr algn="just" eaLnBrk="0" fontAlgn="base" hangingPunct="0">
              <a:spcBef>
                <a:spcPct val="0"/>
              </a:spcBef>
              <a:spcAft>
                <a:spcPct val="0"/>
              </a:spcAft>
            </a:pPr>
            <a:r>
              <a:rPr lang="en-US" altLang="en-US" sz="2600" b="1" dirty="0"/>
              <a:t>Internet Connection:</a:t>
            </a:r>
            <a:r>
              <a:rPr lang="en-US" altLang="en-US" sz="2600" dirty="0"/>
              <a:t> Required</a:t>
            </a:r>
          </a:p>
          <a:p>
            <a:pPr marL="0" lvl="0" indent="0" algn="just" eaLnBrk="0" fontAlgn="base" hangingPunct="0">
              <a:spcBef>
                <a:spcPct val="0"/>
              </a:spcBef>
              <a:spcAft>
                <a:spcPct val="0"/>
              </a:spcAft>
            </a:pPr>
            <a:endParaRPr lang="en-US" altLang="en-US" sz="2600" dirty="0"/>
          </a:p>
          <a:p>
            <a:pPr algn="just" eaLnBrk="0" fontAlgn="base" hangingPunct="0">
              <a:spcBef>
                <a:spcPct val="0"/>
              </a:spcBef>
              <a:spcAft>
                <a:spcPct val="0"/>
              </a:spcAft>
            </a:pPr>
            <a:r>
              <a:rPr lang="en-US" altLang="en-US" sz="2600" b="1" dirty="0"/>
              <a:t>Input Devices:</a:t>
            </a:r>
            <a:r>
              <a:rPr lang="en-US" altLang="en-US" sz="2600" dirty="0"/>
              <a:t> Keyboard, Mouse</a:t>
            </a:r>
          </a:p>
          <a:p>
            <a:pPr marL="0" lvl="0" indent="0" algn="just" eaLnBrk="0" fontAlgn="base" hangingPunct="0">
              <a:spcBef>
                <a:spcPct val="0"/>
              </a:spcBef>
              <a:spcAft>
                <a:spcPct val="0"/>
              </a:spcAft>
            </a:pPr>
            <a:endParaRPr lang="en-US" altLang="en-US" sz="2600" dirty="0"/>
          </a:p>
          <a:p>
            <a:pPr algn="just" eaLnBrk="0" fontAlgn="base" hangingPunct="0">
              <a:spcBef>
                <a:spcPct val="0"/>
              </a:spcBef>
              <a:spcAft>
                <a:spcPct val="0"/>
              </a:spcAft>
            </a:pPr>
            <a:r>
              <a:rPr lang="en-US" altLang="en-US" sz="2600" b="1" dirty="0"/>
              <a:t>Output Devices:</a:t>
            </a:r>
            <a:r>
              <a:rPr lang="en-US" altLang="en-US" sz="2600" dirty="0"/>
              <a:t> Monitor</a:t>
            </a:r>
          </a:p>
          <a:p>
            <a:pPr marL="0" indent="0">
              <a:buNone/>
            </a:pPr>
            <a:endParaRPr lang="en-IN" b="1" dirty="0"/>
          </a:p>
          <a:p>
            <a:pPr marL="0" indent="0">
              <a:buNone/>
            </a:pPr>
            <a:endParaRPr lang="en-IN" b="1" dirty="0"/>
          </a:p>
        </p:txBody>
      </p:sp>
    </p:spTree>
    <p:extLst>
      <p:ext uri="{BB962C8B-B14F-4D97-AF65-F5344CB8AC3E}">
        <p14:creationId xmlns:p14="http://schemas.microsoft.com/office/powerpoint/2010/main" val="3945069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200" y="404664"/>
            <a:ext cx="8229600" cy="1143000"/>
          </a:xfrm>
        </p:spPr>
        <p:txBody>
          <a:bodyPr/>
          <a:lstStyle/>
          <a:p>
            <a:r>
              <a:rPr lang="en-IN" dirty="0"/>
              <a:t>Modules</a:t>
            </a:r>
          </a:p>
        </p:txBody>
      </p:sp>
      <p:sp>
        <p:nvSpPr>
          <p:cNvPr id="3" name="Content Placeholder 2"/>
          <p:cNvSpPr>
            <a:spLocks noGrp="1"/>
          </p:cNvSpPr>
          <p:nvPr>
            <p:ph idx="1"/>
          </p:nvPr>
        </p:nvSpPr>
        <p:spPr>
          <a:xfrm>
            <a:off x="478200" y="1628800"/>
            <a:ext cx="8229600" cy="3456384"/>
          </a:xfrm>
        </p:spPr>
        <p:txBody>
          <a:bodyPr>
            <a:normAutofit fontScale="25000" lnSpcReduction="20000"/>
          </a:bodyPr>
          <a:lstStyle/>
          <a:p>
            <a:r>
              <a:rPr lang="en-IN" sz="8800" dirty="0">
                <a:latin typeface="+mj-lt"/>
                <a:cs typeface="Times New Roman" panose="02020603050405020304" pitchFamily="18" charset="0"/>
              </a:rPr>
              <a:t>User management module</a:t>
            </a:r>
          </a:p>
          <a:p>
            <a:pPr marL="0" indent="0">
              <a:buNone/>
            </a:pPr>
            <a:endParaRPr lang="en-IN" sz="8800" dirty="0">
              <a:latin typeface="+mj-lt"/>
              <a:cs typeface="Times New Roman" panose="02020603050405020304" pitchFamily="18" charset="0"/>
            </a:endParaRPr>
          </a:p>
          <a:p>
            <a:endParaRPr lang="en-IN" sz="2000" dirty="0"/>
          </a:p>
          <a:p>
            <a:r>
              <a:rPr lang="en-IN" sz="8800" dirty="0">
                <a:latin typeface="+mj-lt"/>
                <a:cs typeface="Times New Roman" panose="02020603050405020304" pitchFamily="18" charset="0"/>
              </a:rPr>
              <a:t>Restaurant Browsing Module</a:t>
            </a:r>
          </a:p>
          <a:p>
            <a:endParaRPr lang="en-IN" sz="8800" dirty="0">
              <a:latin typeface="+mj-lt"/>
              <a:cs typeface="Times New Roman" panose="02020603050405020304" pitchFamily="18" charset="0"/>
            </a:endParaRPr>
          </a:p>
          <a:p>
            <a:r>
              <a:rPr lang="en-IN" sz="8800" dirty="0">
                <a:latin typeface="+mj-lt"/>
                <a:cs typeface="Times New Roman" panose="02020603050405020304" pitchFamily="18" charset="0"/>
              </a:rPr>
              <a:t>Cart Management Module</a:t>
            </a:r>
          </a:p>
          <a:p>
            <a:endParaRPr lang="en-IN" sz="8800" dirty="0">
              <a:latin typeface="+mj-lt"/>
              <a:cs typeface="Times New Roman" panose="02020603050405020304" pitchFamily="18" charset="0"/>
            </a:endParaRPr>
          </a:p>
          <a:p>
            <a:r>
              <a:rPr lang="en-IN" sz="8800" dirty="0">
                <a:latin typeface="+mj-lt"/>
                <a:cs typeface="Times New Roman" panose="02020603050405020304" pitchFamily="18" charset="0"/>
              </a:rPr>
              <a:t>Order Management Module</a:t>
            </a:r>
          </a:p>
          <a:p>
            <a:endParaRPr lang="en-IN" sz="8800" dirty="0">
              <a:latin typeface="+mj-lt"/>
              <a:cs typeface="Times New Roman" panose="02020603050405020304" pitchFamily="18" charset="0"/>
            </a:endParaRPr>
          </a:p>
          <a:p>
            <a:r>
              <a:rPr lang="en-IN" sz="8800" dirty="0">
                <a:latin typeface="+mj-lt"/>
                <a:cs typeface="Times New Roman" panose="02020603050405020304" pitchFamily="18" charset="0"/>
              </a:rPr>
              <a:t>Payment Processing Module</a:t>
            </a:r>
          </a:p>
          <a:p>
            <a:endParaRPr lang="en-IN" sz="8800" dirty="0">
              <a:latin typeface="+mj-lt"/>
              <a:cs typeface="Times New Roman" panose="02020603050405020304" pitchFamily="18" charset="0"/>
            </a:endParaRPr>
          </a:p>
          <a:p>
            <a:r>
              <a:rPr lang="en-IN" sz="8800" dirty="0">
                <a:latin typeface="+mj-lt"/>
                <a:cs typeface="Times New Roman" panose="02020603050405020304" pitchFamily="18" charset="0"/>
              </a:rPr>
              <a:t>Delivery Tracking Module</a:t>
            </a:r>
          </a:p>
          <a:p>
            <a:endParaRPr lang="en-IN" sz="8800" dirty="0">
              <a:latin typeface="+mj-lt"/>
              <a:cs typeface="Times New Roman" panose="02020603050405020304" pitchFamily="18" charset="0"/>
            </a:endParaRPr>
          </a:p>
          <a:p>
            <a:r>
              <a:rPr lang="en-IN" sz="8800" dirty="0">
                <a:latin typeface="+mj-lt"/>
                <a:cs typeface="Times New Roman" panose="02020603050405020304" pitchFamily="18" charset="0"/>
              </a:rPr>
              <a:t>Admin Management Module</a:t>
            </a:r>
          </a:p>
        </p:txBody>
      </p:sp>
    </p:spTree>
    <p:extLst>
      <p:ext uri="{BB962C8B-B14F-4D97-AF65-F5344CB8AC3E}">
        <p14:creationId xmlns:p14="http://schemas.microsoft.com/office/powerpoint/2010/main" val="858138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0"/>
            <a:ext cx="8229600" cy="1143000"/>
          </a:xfrm>
        </p:spPr>
        <p:txBody>
          <a:bodyPr/>
          <a:lstStyle/>
          <a:p>
            <a:r>
              <a:rPr lang="en-IN" dirty="0"/>
              <a:t>System Design</a:t>
            </a:r>
          </a:p>
        </p:txBody>
      </p:sp>
      <p:sp>
        <p:nvSpPr>
          <p:cNvPr id="3" name="Content Placeholder 2"/>
          <p:cNvSpPr>
            <a:spLocks noGrp="1"/>
          </p:cNvSpPr>
          <p:nvPr>
            <p:ph idx="1"/>
          </p:nvPr>
        </p:nvSpPr>
        <p:spPr>
          <a:xfrm>
            <a:off x="364704" y="1129004"/>
            <a:ext cx="8229600" cy="4525963"/>
          </a:xfrm>
        </p:spPr>
        <p:txBody>
          <a:bodyPr>
            <a:normAutofit/>
          </a:bodyPr>
          <a:lstStyle/>
          <a:p>
            <a:pPr marL="0" indent="0">
              <a:buNone/>
            </a:pPr>
            <a:r>
              <a:rPr lang="en-IN" sz="2800" dirty="0"/>
              <a:t>Class diagram</a:t>
            </a:r>
          </a:p>
        </p:txBody>
      </p:sp>
      <p:pic>
        <p:nvPicPr>
          <p:cNvPr id="6" name="Picture 5"/>
          <p:cNvPicPr/>
          <p:nvPr/>
        </p:nvPicPr>
        <p:blipFill>
          <a:blip r:embed="rId2"/>
          <a:stretch>
            <a:fillRect/>
          </a:stretch>
        </p:blipFill>
        <p:spPr>
          <a:xfrm>
            <a:off x="1356853" y="2060848"/>
            <a:ext cx="5919018" cy="3893820"/>
          </a:xfrm>
          <a:prstGeom prst="rect">
            <a:avLst/>
          </a:prstGeom>
        </p:spPr>
      </p:pic>
    </p:spTree>
    <p:extLst>
      <p:ext uri="{BB962C8B-B14F-4D97-AF65-F5344CB8AC3E}">
        <p14:creationId xmlns:p14="http://schemas.microsoft.com/office/powerpoint/2010/main" val="2395421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t>
            </a:r>
            <a:br>
              <a:rPr lang="en-IN" dirty="0"/>
            </a:br>
            <a:endParaRPr lang="en-IN" dirty="0"/>
          </a:p>
        </p:txBody>
      </p:sp>
      <p:sp>
        <p:nvSpPr>
          <p:cNvPr id="5" name="Content Placeholder 4"/>
          <p:cNvSpPr>
            <a:spLocks noGrp="1"/>
          </p:cNvSpPr>
          <p:nvPr>
            <p:ph idx="1"/>
          </p:nvPr>
        </p:nvSpPr>
        <p:spPr>
          <a:xfrm>
            <a:off x="457200" y="292893"/>
            <a:ext cx="8229600" cy="4525963"/>
          </a:xfrm>
        </p:spPr>
        <p:txBody>
          <a:bodyPr>
            <a:normAutofit/>
          </a:bodyPr>
          <a:lstStyle/>
          <a:p>
            <a:pPr marL="0" indent="0">
              <a:buNone/>
            </a:pPr>
            <a:r>
              <a:rPr lang="en-IN" sz="2800" dirty="0"/>
              <a:t>Activity Diagram</a:t>
            </a:r>
          </a:p>
        </p:txBody>
      </p:sp>
      <p:pic>
        <p:nvPicPr>
          <p:cNvPr id="6" name="Content Placeholder 3"/>
          <p:cNvPicPr>
            <a:picLocks/>
          </p:cNvPicPr>
          <p:nvPr/>
        </p:nvPicPr>
        <p:blipFill>
          <a:blip r:embed="rId2"/>
          <a:stretch>
            <a:fillRect/>
          </a:stretch>
        </p:blipFill>
        <p:spPr>
          <a:xfrm>
            <a:off x="3175819" y="764704"/>
            <a:ext cx="2300749" cy="5832648"/>
          </a:xfrm>
          <a:prstGeom prst="rect">
            <a:avLst/>
          </a:prstGeom>
        </p:spPr>
      </p:pic>
    </p:spTree>
    <p:extLst>
      <p:ext uri="{BB962C8B-B14F-4D97-AF65-F5344CB8AC3E}">
        <p14:creationId xmlns:p14="http://schemas.microsoft.com/office/powerpoint/2010/main" val="471975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t>
            </a:r>
            <a:br>
              <a:rPr lang="en-IN" dirty="0"/>
            </a:br>
            <a:endParaRPr lang="en-IN" dirty="0"/>
          </a:p>
        </p:txBody>
      </p:sp>
      <p:sp>
        <p:nvSpPr>
          <p:cNvPr id="3" name="Content Placeholder 2"/>
          <p:cNvSpPr>
            <a:spLocks noGrp="1"/>
          </p:cNvSpPr>
          <p:nvPr>
            <p:ph idx="1"/>
          </p:nvPr>
        </p:nvSpPr>
        <p:spPr>
          <a:xfrm>
            <a:off x="457200" y="476672"/>
            <a:ext cx="8229600" cy="4525963"/>
          </a:xfrm>
        </p:spPr>
        <p:txBody>
          <a:bodyPr>
            <a:normAutofit/>
          </a:bodyPr>
          <a:lstStyle/>
          <a:p>
            <a:pPr marL="0" indent="0">
              <a:buNone/>
            </a:pPr>
            <a:r>
              <a:rPr lang="en-IN" sz="2800" dirty="0" err="1"/>
              <a:t>Usecase</a:t>
            </a:r>
            <a:r>
              <a:rPr lang="en-IN" sz="2800" dirty="0"/>
              <a:t> Diagram</a:t>
            </a:r>
          </a:p>
        </p:txBody>
      </p:sp>
      <p:pic>
        <p:nvPicPr>
          <p:cNvPr id="4" name="Picture 3"/>
          <p:cNvPicPr/>
          <p:nvPr/>
        </p:nvPicPr>
        <p:blipFill>
          <a:blip r:embed="rId2"/>
          <a:stretch>
            <a:fillRect/>
          </a:stretch>
        </p:blipFill>
        <p:spPr>
          <a:xfrm>
            <a:off x="2123728" y="1417638"/>
            <a:ext cx="4274820" cy="4754880"/>
          </a:xfrm>
          <a:prstGeom prst="rect">
            <a:avLst/>
          </a:prstGeom>
        </p:spPr>
      </p:pic>
    </p:spTree>
    <p:extLst>
      <p:ext uri="{BB962C8B-B14F-4D97-AF65-F5344CB8AC3E}">
        <p14:creationId xmlns:p14="http://schemas.microsoft.com/office/powerpoint/2010/main" val="3773571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endParaRPr lang="en-IN" dirty="0"/>
          </a:p>
        </p:txBody>
      </p:sp>
      <p:sp>
        <p:nvSpPr>
          <p:cNvPr id="3" name="Content Placeholder 2"/>
          <p:cNvSpPr>
            <a:spLocks noGrp="1"/>
          </p:cNvSpPr>
          <p:nvPr>
            <p:ph idx="1"/>
          </p:nvPr>
        </p:nvSpPr>
        <p:spPr>
          <a:xfrm>
            <a:off x="457200" y="476672"/>
            <a:ext cx="8229600" cy="4525963"/>
          </a:xfrm>
        </p:spPr>
        <p:txBody>
          <a:bodyPr/>
          <a:lstStyle/>
          <a:p>
            <a:pPr marL="0" indent="0">
              <a:buNone/>
            </a:pPr>
            <a:r>
              <a:rPr lang="en-IN" sz="2800" dirty="0"/>
              <a:t>Sequence Diagram</a:t>
            </a:r>
          </a:p>
        </p:txBody>
      </p:sp>
      <p:pic>
        <p:nvPicPr>
          <p:cNvPr id="4" name="Picture 3"/>
          <p:cNvPicPr/>
          <p:nvPr/>
        </p:nvPicPr>
        <p:blipFill>
          <a:blip r:embed="rId2"/>
          <a:stretch>
            <a:fillRect/>
          </a:stretch>
        </p:blipFill>
        <p:spPr>
          <a:xfrm>
            <a:off x="1619672" y="1700808"/>
            <a:ext cx="6046470" cy="4446905"/>
          </a:xfrm>
          <a:prstGeom prst="rect">
            <a:avLst/>
          </a:prstGeom>
        </p:spPr>
      </p:pic>
    </p:spTree>
    <p:extLst>
      <p:ext uri="{BB962C8B-B14F-4D97-AF65-F5344CB8AC3E}">
        <p14:creationId xmlns:p14="http://schemas.microsoft.com/office/powerpoint/2010/main" val="968499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Output Screenshots</a:t>
            </a:r>
          </a:p>
        </p:txBody>
      </p:sp>
      <p:pic>
        <p:nvPicPr>
          <p:cNvPr id="4" name="Content Placeholder 3"/>
          <p:cNvPicPr>
            <a:picLocks noGrp="1"/>
          </p:cNvPicPr>
          <p:nvPr>
            <p:ph idx="1"/>
          </p:nvPr>
        </p:nvPicPr>
        <p:blipFill>
          <a:blip r:embed="rId2"/>
          <a:stretch>
            <a:fillRect/>
          </a:stretch>
        </p:blipFill>
        <p:spPr>
          <a:xfrm>
            <a:off x="457200" y="1772816"/>
            <a:ext cx="8229600" cy="3443591"/>
          </a:xfrm>
          <a:prstGeom prst="rect">
            <a:avLst/>
          </a:prstGeom>
        </p:spPr>
      </p:pic>
    </p:spTree>
    <p:extLst>
      <p:ext uri="{BB962C8B-B14F-4D97-AF65-F5344CB8AC3E}">
        <p14:creationId xmlns:p14="http://schemas.microsoft.com/office/powerpoint/2010/main" val="1816872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t>
            </a:r>
            <a:br>
              <a:rPr lang="en-IN" dirty="0"/>
            </a:br>
            <a:endParaRPr lang="en-IN" dirty="0"/>
          </a:p>
        </p:txBody>
      </p:sp>
      <p:pic>
        <p:nvPicPr>
          <p:cNvPr id="4" name="Content Placeholder 3"/>
          <p:cNvPicPr>
            <a:picLocks noGrp="1"/>
          </p:cNvPicPr>
          <p:nvPr>
            <p:ph idx="1"/>
          </p:nvPr>
        </p:nvPicPr>
        <p:blipFill>
          <a:blip r:embed="rId2"/>
          <a:stretch>
            <a:fillRect/>
          </a:stretch>
        </p:blipFill>
        <p:spPr>
          <a:xfrm>
            <a:off x="483240" y="1052736"/>
            <a:ext cx="8229600" cy="1900136"/>
          </a:xfrm>
          <a:prstGeom prst="rect">
            <a:avLst/>
          </a:prstGeom>
        </p:spPr>
      </p:pic>
      <p:pic>
        <p:nvPicPr>
          <p:cNvPr id="5" name="Picture 4"/>
          <p:cNvPicPr/>
          <p:nvPr/>
        </p:nvPicPr>
        <p:blipFill>
          <a:blip r:embed="rId3"/>
          <a:stretch>
            <a:fillRect/>
          </a:stretch>
        </p:blipFill>
        <p:spPr>
          <a:xfrm>
            <a:off x="1475656" y="3573016"/>
            <a:ext cx="6046470" cy="2279015"/>
          </a:xfrm>
          <a:prstGeom prst="rect">
            <a:avLst/>
          </a:prstGeom>
        </p:spPr>
      </p:pic>
    </p:spTree>
    <p:extLst>
      <p:ext uri="{BB962C8B-B14F-4D97-AF65-F5344CB8AC3E}">
        <p14:creationId xmlns:p14="http://schemas.microsoft.com/office/powerpoint/2010/main" val="1525697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t>
            </a:r>
            <a:br>
              <a:rPr lang="en-IN" dirty="0"/>
            </a:br>
            <a:endParaRPr lang="en-IN" dirty="0"/>
          </a:p>
        </p:txBody>
      </p:sp>
      <p:pic>
        <p:nvPicPr>
          <p:cNvPr id="4" name="Content Placeholder 3"/>
          <p:cNvPicPr>
            <a:picLocks noGrp="1"/>
          </p:cNvPicPr>
          <p:nvPr>
            <p:ph idx="1"/>
          </p:nvPr>
        </p:nvPicPr>
        <p:blipFill>
          <a:blip r:embed="rId2"/>
          <a:stretch>
            <a:fillRect/>
          </a:stretch>
        </p:blipFill>
        <p:spPr>
          <a:xfrm>
            <a:off x="457200" y="1628800"/>
            <a:ext cx="8229600" cy="3339829"/>
          </a:xfrm>
          <a:prstGeom prst="rect">
            <a:avLst/>
          </a:prstGeom>
        </p:spPr>
      </p:pic>
    </p:spTree>
    <p:extLst>
      <p:ext uri="{BB962C8B-B14F-4D97-AF65-F5344CB8AC3E}">
        <p14:creationId xmlns:p14="http://schemas.microsoft.com/office/powerpoint/2010/main" val="655871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t>
            </a:r>
            <a:br>
              <a:rPr lang="en-IN" dirty="0"/>
            </a:br>
            <a:endParaRPr lang="en-IN" dirty="0"/>
          </a:p>
        </p:txBody>
      </p:sp>
      <p:pic>
        <p:nvPicPr>
          <p:cNvPr id="4" name="Content Placeholder 3"/>
          <p:cNvPicPr>
            <a:picLocks noGrp="1"/>
          </p:cNvPicPr>
          <p:nvPr>
            <p:ph idx="1"/>
          </p:nvPr>
        </p:nvPicPr>
        <p:blipFill>
          <a:blip r:embed="rId2"/>
          <a:stretch>
            <a:fillRect/>
          </a:stretch>
        </p:blipFill>
        <p:spPr>
          <a:xfrm>
            <a:off x="457200" y="1628800"/>
            <a:ext cx="8229600" cy="3436882"/>
          </a:xfrm>
          <a:prstGeom prst="rect">
            <a:avLst/>
          </a:prstGeom>
        </p:spPr>
      </p:pic>
    </p:spTree>
    <p:extLst>
      <p:ext uri="{BB962C8B-B14F-4D97-AF65-F5344CB8AC3E}">
        <p14:creationId xmlns:p14="http://schemas.microsoft.com/office/powerpoint/2010/main" val="4074309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Conclusion</a:t>
            </a:r>
          </a:p>
        </p:txBody>
      </p:sp>
      <p:sp>
        <p:nvSpPr>
          <p:cNvPr id="3" name="Content Placeholder 2"/>
          <p:cNvSpPr>
            <a:spLocks noGrp="1"/>
          </p:cNvSpPr>
          <p:nvPr>
            <p:ph idx="1"/>
          </p:nvPr>
        </p:nvSpPr>
        <p:spPr>
          <a:xfrm>
            <a:off x="457200" y="1556792"/>
            <a:ext cx="8229600" cy="4525963"/>
          </a:xfrm>
        </p:spPr>
        <p:txBody>
          <a:bodyPr>
            <a:normAutofit/>
          </a:bodyPr>
          <a:lstStyle/>
          <a:p>
            <a:pPr marL="0" indent="0" algn="just">
              <a:buNone/>
            </a:pPr>
            <a:r>
              <a:rPr lang="en-IN" sz="2000" dirty="0"/>
              <a:t>The Online Food Ordering System was developed to make the process of ordering food simple, fast, and convenient for users. The system allows customers to browse food items, add them to the cart, and place orders through an online platform. </a:t>
            </a:r>
          </a:p>
        </p:txBody>
      </p:sp>
    </p:spTree>
    <p:extLst>
      <p:ext uri="{BB962C8B-B14F-4D97-AF65-F5344CB8AC3E}">
        <p14:creationId xmlns:p14="http://schemas.microsoft.com/office/powerpoint/2010/main" val="802659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Future Enhancement</a:t>
            </a:r>
          </a:p>
        </p:txBody>
      </p:sp>
      <p:sp>
        <p:nvSpPr>
          <p:cNvPr id="3" name="Content Placeholder 2"/>
          <p:cNvSpPr>
            <a:spLocks noGrp="1"/>
          </p:cNvSpPr>
          <p:nvPr>
            <p:ph idx="1"/>
          </p:nvPr>
        </p:nvSpPr>
        <p:spPr>
          <a:xfrm>
            <a:off x="457200" y="1372236"/>
            <a:ext cx="8229600" cy="4525963"/>
          </a:xfrm>
        </p:spPr>
        <p:txBody>
          <a:bodyPr>
            <a:noAutofit/>
          </a:bodyPr>
          <a:lstStyle/>
          <a:p>
            <a:pPr marL="0" indent="0" algn="just">
              <a:buNone/>
            </a:pPr>
            <a:r>
              <a:rPr lang="en-IN" sz="2000" dirty="0"/>
              <a:t>The Online Food Ordering System can be further improved by adding advanced features to enhance functionality and user experience. In the future, the system can include real-time order tracking so that customers can monitor the status of their orders from preparation to delivery. Multiple secure payment options such as UPI, debit cards, credit cards, and digital wallets can be integrated to make the payment process more convenient.</a:t>
            </a:r>
          </a:p>
        </p:txBody>
      </p:sp>
    </p:spTree>
    <p:extLst>
      <p:ext uri="{BB962C8B-B14F-4D97-AF65-F5344CB8AC3E}">
        <p14:creationId xmlns:p14="http://schemas.microsoft.com/office/powerpoint/2010/main" val="890711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References</a:t>
            </a:r>
          </a:p>
        </p:txBody>
      </p:sp>
      <p:sp>
        <p:nvSpPr>
          <p:cNvPr id="3" name="Content Placeholder 2"/>
          <p:cNvSpPr>
            <a:spLocks noGrp="1"/>
          </p:cNvSpPr>
          <p:nvPr>
            <p:ph idx="1"/>
          </p:nvPr>
        </p:nvSpPr>
        <p:spPr/>
        <p:txBody>
          <a:bodyPr>
            <a:normAutofit/>
          </a:bodyPr>
          <a:lstStyle/>
          <a:p>
            <a:pPr marL="0" indent="0">
              <a:buNone/>
            </a:pPr>
            <a:r>
              <a:rPr lang="en-IN" b="1" dirty="0"/>
              <a:t>Books</a:t>
            </a:r>
          </a:p>
          <a:p>
            <a:r>
              <a:rPr lang="en-IN" sz="2000" dirty="0"/>
              <a:t>Python: Python Crash Course, Eric </a:t>
            </a:r>
            <a:r>
              <a:rPr lang="en-IN" sz="2000" dirty="0" err="1"/>
              <a:t>Matthes</a:t>
            </a:r>
            <a:r>
              <a:rPr lang="en-IN" sz="2000" dirty="0"/>
              <a:t> </a:t>
            </a:r>
          </a:p>
          <a:p>
            <a:r>
              <a:rPr lang="en-IN" sz="2000" dirty="0"/>
              <a:t>Web Development: HTML and CSS: Design and Build Websites, Jon </a:t>
            </a:r>
            <a:r>
              <a:rPr lang="en-IN" sz="2000" dirty="0" err="1"/>
              <a:t>Duckett</a:t>
            </a:r>
            <a:r>
              <a:rPr lang="en-IN" sz="2000" dirty="0"/>
              <a:t> </a:t>
            </a:r>
          </a:p>
          <a:p>
            <a:r>
              <a:rPr lang="en-IN" sz="2000" dirty="0"/>
              <a:t>Database Management: Database System Concepts, </a:t>
            </a:r>
            <a:r>
              <a:rPr lang="en-IN" sz="2000"/>
              <a:t>Abraham Silberschatz </a:t>
            </a:r>
            <a:endParaRPr lang="en-IN" sz="2000" dirty="0"/>
          </a:p>
          <a:p>
            <a:pPr marL="0" indent="0">
              <a:buNone/>
            </a:pPr>
            <a:r>
              <a:rPr lang="en-IN" b="1" dirty="0"/>
              <a:t>Sites</a:t>
            </a:r>
            <a:endParaRPr lang="en-IN" sz="2200" b="1" dirty="0"/>
          </a:p>
          <a:p>
            <a:pPr marL="0" indent="0">
              <a:buNone/>
            </a:pPr>
            <a:r>
              <a:rPr lang="en-IN" sz="2200" u="sng" dirty="0">
                <a:hlinkClick r:id="rId2"/>
              </a:rPr>
              <a:t>https://www.zomato.com</a:t>
            </a:r>
          </a:p>
          <a:p>
            <a:pPr marL="0" indent="0">
              <a:buNone/>
            </a:pPr>
            <a:r>
              <a:rPr lang="en-IN" sz="2200" dirty="0">
                <a:hlinkClick r:id="rId2"/>
              </a:rPr>
              <a:t> </a:t>
            </a:r>
            <a:r>
              <a:rPr lang="en-IN" sz="2200" u="sng" dirty="0">
                <a:hlinkClick r:id="rId3"/>
              </a:rPr>
              <a:t>https://www.swiggy.com</a:t>
            </a:r>
          </a:p>
          <a:p>
            <a:pPr marL="0" indent="0">
              <a:buNone/>
            </a:pPr>
            <a:r>
              <a:rPr lang="en-IN" sz="2200" dirty="0">
                <a:hlinkClick r:id="rId3"/>
              </a:rPr>
              <a:t> </a:t>
            </a:r>
            <a:r>
              <a:rPr lang="en-IN" sz="2200" u="sng" dirty="0">
                <a:hlinkClick r:id="rId4"/>
              </a:rPr>
              <a:t>https://www.ubereats.com</a:t>
            </a:r>
          </a:p>
          <a:p>
            <a:pPr marL="0" indent="0">
              <a:buNone/>
            </a:pPr>
            <a:r>
              <a:rPr lang="en-IN" sz="2200" dirty="0">
                <a:hlinkClick r:id="rId4"/>
              </a:rPr>
              <a:t> </a:t>
            </a:r>
            <a:r>
              <a:rPr lang="en-IN" sz="2200" u="sng" dirty="0">
                <a:hlinkClick r:id="rId5"/>
              </a:rPr>
              <a:t>https://www.dominos.co.in</a:t>
            </a:r>
            <a:r>
              <a:rPr lang="en-IN" sz="2200" dirty="0">
                <a:hlinkClick r:id="rId5"/>
              </a:rPr>
              <a:t> </a:t>
            </a:r>
            <a:endParaRPr lang="en-IN" sz="2200" dirty="0"/>
          </a:p>
          <a:p>
            <a:pPr marL="0" indent="0">
              <a:buNone/>
            </a:pPr>
            <a:r>
              <a:rPr lang="en-IN" sz="2200" u="sng" dirty="0">
                <a:hlinkClick r:id="rId6"/>
              </a:rPr>
              <a:t>https://www.foodpanda.com</a:t>
            </a:r>
            <a:endParaRPr lang="en-IN" sz="2200" dirty="0"/>
          </a:p>
        </p:txBody>
      </p:sp>
    </p:spTree>
    <p:extLst>
      <p:ext uri="{BB962C8B-B14F-4D97-AF65-F5344CB8AC3E}">
        <p14:creationId xmlns:p14="http://schemas.microsoft.com/office/powerpoint/2010/main" val="1090172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715</Words>
  <Application>Microsoft Office PowerPoint</Application>
  <PresentationFormat>On-screen Show (4:3)</PresentationFormat>
  <Paragraphs>125</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ONLINE FOOD ORDERING SYSTEM UNDER E-COMMERCE</vt:lpstr>
      <vt:lpstr>CONTENTS</vt:lpstr>
      <vt:lpstr>Abstract</vt:lpstr>
      <vt:lpstr>Problem Statement </vt:lpstr>
      <vt:lpstr>Literature Survey</vt:lpstr>
      <vt:lpstr>Existing System</vt:lpstr>
      <vt:lpstr>Proposed System</vt:lpstr>
      <vt:lpstr>System Architecture</vt:lpstr>
      <vt:lpstr>Software and Hardware Requirements</vt:lpstr>
      <vt:lpstr> </vt:lpstr>
      <vt:lpstr>Modules</vt:lpstr>
      <vt:lpstr>System Design</vt:lpstr>
      <vt:lpstr>  </vt:lpstr>
      <vt:lpstr>  </vt:lpstr>
      <vt:lpstr> </vt:lpstr>
      <vt:lpstr>Output Screenshots</vt:lpstr>
      <vt:lpstr>   </vt:lpstr>
      <vt:lpstr>  </vt:lpstr>
      <vt:lpstr>  </vt:lpstr>
      <vt:lpstr>Conclusion</vt:lpstr>
      <vt:lpstr>Future Enhancement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FOOD ORDERING SYSTEM UNDER E-COMMERCE</dc:title>
  <cp:lastModifiedBy>nethapavan17@gmail.com</cp:lastModifiedBy>
  <cp:revision>2</cp:revision>
  <dcterms:modified xsi:type="dcterms:W3CDTF">2026-04-20T03:03:40Z</dcterms:modified>
</cp:coreProperties>
</file>